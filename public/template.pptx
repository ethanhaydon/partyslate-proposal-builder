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715000" cx="9144000"/>
  <p:notesSz cx="6858000" cy="9144000"/>
  <p:embeddedFontLst>
    <p:embeddedFont>
      <p:font typeface="Outfit ExtraBold"/>
      <p:bold r:id="rId19"/>
    </p:embeddedFont>
    <p:embeddedFont>
      <p:font typeface="Outfit ExtraLight"/>
      <p:regular r:id="rId20"/>
      <p:bold r:id="rId21"/>
    </p:embeddedFont>
    <p:embeddedFont>
      <p:font typeface="Outfit Light"/>
      <p:regular r:id="rId22"/>
      <p:bold r:id="rId23"/>
    </p:embeddedFont>
    <p:embeddedFont>
      <p:font typeface="Outfit"/>
      <p:regular r:id="rId24"/>
      <p:bold r:id="rId25"/>
    </p:embeddedFont>
    <p:embeddedFont>
      <p:font typeface="Open Sans Light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9AA0A6"/>
          </p15:clr>
        </p15:guide>
        <p15:guide id="2" pos="2880">
          <p15:clr>
            <a:srgbClr val="9AA0A6"/>
          </p15:clr>
        </p15:guide>
        <p15:guide id="3" pos="43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  <p:guide pos="4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ExtraLight-regular.fntdata"/><Relationship Id="rId22" Type="http://schemas.openxmlformats.org/officeDocument/2006/relationships/font" Target="fonts/OutfitLight-regular.fntdata"/><Relationship Id="rId21" Type="http://schemas.openxmlformats.org/officeDocument/2006/relationships/font" Target="fonts/OutfitExtraLight-bold.fntdata"/><Relationship Id="rId24" Type="http://schemas.openxmlformats.org/officeDocument/2006/relationships/font" Target="fonts/Outfit-regular.fntdata"/><Relationship Id="rId23" Type="http://schemas.openxmlformats.org/officeDocument/2006/relationships/font" Target="fonts/Outfit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Light-regular.fntdata"/><Relationship Id="rId25" Type="http://schemas.openxmlformats.org/officeDocument/2006/relationships/font" Target="fonts/Outfit-bold.fntdata"/><Relationship Id="rId28" Type="http://schemas.openxmlformats.org/officeDocument/2006/relationships/font" Target="fonts/OpenSansLight-italic.fntdata"/><Relationship Id="rId27" Type="http://schemas.openxmlformats.org/officeDocument/2006/relationships/font" Target="fonts/OpenSans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utfitExtraBold-bold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d3a96e13b_0_5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d3a96e13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33881fe40_0_23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33881fe4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33881fe40_0_24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33881fe40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33881fe40_0_25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33881fe4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537772a5_0_12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d537772a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deeb98618_0_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deeb9861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deeb98618_0_24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deeb9861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33881fe40_0_30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33881fe40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33881fe40_0_36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33881fe40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5594ffede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5594ffe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33881fe40_0_45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33881fe40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a6dd9ca3d_0_5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a6dd9ca3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b640a019c_0_36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b640a019c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77175" y="-61500"/>
            <a:ext cx="9272100" cy="585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37575" y="955756"/>
            <a:ext cx="3301965" cy="330196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73075" y="3791667"/>
            <a:ext cx="8520600" cy="6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ExtraLight"/>
              <a:buNone/>
              <a:defRPr sz="2600">
                <a:solidFill>
                  <a:schemeClr val="lt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4369616"/>
            <a:ext cx="852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hite">
  <p:cSld name="TITLE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3775" y="2630417"/>
            <a:ext cx="3091207" cy="28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ctrTitle"/>
          </p:nvPr>
        </p:nvSpPr>
        <p:spPr>
          <a:xfrm>
            <a:off x="273075" y="3791667"/>
            <a:ext cx="8520600" cy="6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Outfit ExtraLight"/>
              <a:buNone/>
              <a:defRPr sz="2600"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4369616"/>
            <a:ext cx="852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">
  <p:cSld name="TITLE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-77175" y="-61500"/>
            <a:ext cx="9272100" cy="585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840309" y="5137005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37575" y="955756"/>
            <a:ext cx="3301965" cy="3301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73600" y="1026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Photo">
  <p:cSld name="TITLE_AND_BODY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4576825" y="-7825"/>
            <a:ext cx="4586400" cy="5722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Space">
  <p:cSld name="TITLE_AND_BODY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1 + 1 Col ">
  <p:cSld name="TITLE_AND_BODY_1_1_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9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35500" y="240472"/>
            <a:ext cx="85587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5487275" y="1026528"/>
            <a:ext cx="3306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2/3 + 1 Col  1/3">
  <p:cSld name="TITLE_AND_BODY_1_1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" name="Google Shape;46;p10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35500" y="240472"/>
            <a:ext cx="85587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6178725" y="1026528"/>
            <a:ext cx="26154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AND_BODY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1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/>
            </a:lvl1pPr>
            <a:lvl2pPr lvl="1" rtl="0">
              <a:buNone/>
              <a:defRPr b="1" sz="800"/>
            </a:lvl2pPr>
            <a:lvl3pPr lvl="2" rtl="0">
              <a:buNone/>
              <a:defRPr b="1" sz="800"/>
            </a:lvl3pPr>
            <a:lvl4pPr lvl="3" rtl="0">
              <a:buNone/>
              <a:defRPr b="1" sz="800"/>
            </a:lvl4pPr>
            <a:lvl5pPr lvl="4" rtl="0">
              <a:buNone/>
              <a:defRPr b="1" sz="800"/>
            </a:lvl5pPr>
            <a:lvl6pPr lvl="5" rtl="0">
              <a:buNone/>
              <a:defRPr b="1" sz="800"/>
            </a:lvl6pPr>
            <a:lvl7pPr lvl="6" rtl="0">
              <a:buNone/>
              <a:defRPr b="1" sz="800"/>
            </a:lvl7pPr>
            <a:lvl8pPr lvl="7" rtl="0">
              <a:buNone/>
              <a:defRPr b="1" sz="800"/>
            </a:lvl8pPr>
            <a:lvl9pPr lvl="8" rtl="0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reaker slide">
  <p:cSld name="TITLE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-77175" y="-61500"/>
            <a:ext cx="9272100" cy="585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1840309" y="5137005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</a:defRPr>
            </a:lvl1pPr>
            <a:lvl2pPr lvl="1" rtl="0">
              <a:buNone/>
              <a:defRPr sz="1300">
                <a:solidFill>
                  <a:schemeClr val="dk1"/>
                </a:solidFill>
              </a:defRPr>
            </a:lvl2pPr>
            <a:lvl3pPr lvl="2" rtl="0">
              <a:buNone/>
              <a:defRPr sz="1300">
                <a:solidFill>
                  <a:schemeClr val="dk1"/>
                </a:solidFill>
              </a:defRPr>
            </a:lvl3pPr>
            <a:lvl4pPr lvl="3" rtl="0">
              <a:buNone/>
              <a:defRPr sz="1300">
                <a:solidFill>
                  <a:schemeClr val="dk1"/>
                </a:solidFill>
              </a:defRPr>
            </a:lvl4pPr>
            <a:lvl5pPr lvl="4" rtl="0">
              <a:buNone/>
              <a:defRPr sz="1300">
                <a:solidFill>
                  <a:schemeClr val="dk1"/>
                </a:solidFill>
              </a:defRPr>
            </a:lvl5pPr>
            <a:lvl6pPr lvl="5" rtl="0">
              <a:buNone/>
              <a:defRPr sz="1300">
                <a:solidFill>
                  <a:schemeClr val="dk1"/>
                </a:solidFill>
              </a:defRPr>
            </a:lvl6pPr>
            <a:lvl7pPr lvl="6" rtl="0">
              <a:buNone/>
              <a:defRPr sz="1300">
                <a:solidFill>
                  <a:schemeClr val="dk1"/>
                </a:solidFill>
              </a:defRPr>
            </a:lvl7pPr>
            <a:lvl8pPr lvl="7" rtl="0">
              <a:buNone/>
              <a:defRPr sz="1300">
                <a:solidFill>
                  <a:schemeClr val="dk1"/>
                </a:solidFill>
              </a:defRPr>
            </a:lvl8pPr>
            <a:lvl9pPr lvl="8" rtl="0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2611139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A7B17"/>
          </p15:clr>
        </p15:guide>
        <p15:guide id="2" pos="2872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4731900" y="1026528"/>
            <a:ext cx="41385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">
  <p:cSld name="1_Agenda">
    <p:bg>
      <p:bgPr>
        <a:noFill/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271435" y="5280468"/>
            <a:ext cx="666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73600" y="1026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">
  <p:cSld name="TITLE_AND_BODY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-40975" y="-45450"/>
            <a:ext cx="9195300" cy="5807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553922"/>
            <a:ext cx="8520600" cy="6363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Photo 1">
  <p:cSld name="TITLE_AND_BODY_1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4576825" y="-7825"/>
            <a:ext cx="4586400" cy="5722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334667"/>
            <a:ext cx="8229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900"/>
              <a:buFont typeface="Outfit ExtraBold"/>
              <a:buNone/>
              <a:defRPr sz="11900"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47600" y="3410694"/>
            <a:ext cx="82488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Photo 2">
  <p:cSld name="TITLE_AND_BODY_1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6825" y="-7825"/>
            <a:ext cx="4586400" cy="5722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1"/>
          <p:cNvSpPr txBox="1"/>
          <p:nvPr>
            <p:ph type="title"/>
          </p:nvPr>
        </p:nvSpPr>
        <p:spPr>
          <a:xfrm>
            <a:off x="311700" y="316672"/>
            <a:ext cx="43491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311700" y="1026525"/>
            <a:ext cx="39639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87" name="Google Shape;8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294673" cy="1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21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Space 1">
  <p:cSld name="TITLE_AND_BODY_1_1_3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title"/>
          </p:nvPr>
        </p:nvSpPr>
        <p:spPr>
          <a:xfrm>
            <a:off x="311700" y="316672"/>
            <a:ext cx="43491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311700" y="1026528"/>
            <a:ext cx="43491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3" name="Google Shape;9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294673" cy="1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22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1">
  <p:cSld name="TITLE_AND_BODY_3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11027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99" name="Google Shape;9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294673" cy="1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23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2">
  <p:cSld name="TITLE_AND_BODY_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311700" y="11027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294673" cy="1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24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3">
  <p:cSld name="TITLE_AND_BODY_5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10" name="Google Shape;110;p25"/>
          <p:cNvSpPr txBox="1"/>
          <p:nvPr>
            <p:ph idx="1" type="body"/>
          </p:nvPr>
        </p:nvSpPr>
        <p:spPr>
          <a:xfrm>
            <a:off x="311700" y="11027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11" name="Google Shape;11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1 1">
  <p:cSld name="TITLE_AND_BODY_3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026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15" name="Google Shape;11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pic>
        <p:nvPicPr>
          <p:cNvPr id="7" name="Google Shape;7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idx="1" type="body"/>
          </p:nvPr>
        </p:nvSpPr>
        <p:spPr>
          <a:xfrm>
            <a:off x="273600" y="1026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5.png"/><Relationship Id="rId8" Type="http://schemas.openxmlformats.org/officeDocument/2006/relationships/image" Target="../media/image13.png"/><Relationship Id="rId11" Type="http://schemas.openxmlformats.org/officeDocument/2006/relationships/image" Target="../media/image17.png"/><Relationship Id="rId10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ctrTitle"/>
          </p:nvPr>
        </p:nvSpPr>
        <p:spPr>
          <a:xfrm>
            <a:off x="273075" y="3620977"/>
            <a:ext cx="8520600" cy="81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[Company Name] </a:t>
            </a:r>
            <a:r>
              <a:rPr lang="en"/>
              <a:t>x PartySlate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[month] </a:t>
            </a: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Snapshot</a:t>
            </a:r>
            <a:endParaRPr/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273600" y="8741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Here are advantages of a partnership with PartySlate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Higher-value event demand</a:t>
            </a:r>
            <a:r>
              <a:rPr lang="en"/>
              <a:t> from consumers actively planning weddings, corporate, and large-scale social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Sales acceleration</a:t>
            </a:r>
            <a:r>
              <a:rPr lang="en"/>
              <a:t> with Photo Hub tools that help prospects visualize and decide faster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Measurable performance tracking</a:t>
            </a:r>
            <a:r>
              <a:rPr lang="en"/>
              <a:t> across views, inquiries, and conversion (with Tripleseat integration)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8"/>
          <p:cNvSpPr txBox="1"/>
          <p:nvPr/>
        </p:nvSpPr>
        <p:spPr>
          <a:xfrm>
            <a:off x="7170000" y="2535000"/>
            <a:ext cx="201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the Partnership</a:t>
            </a:r>
            <a:endParaRPr/>
          </a:p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273600" y="8741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partnership is designed to:</a:t>
            </a:r>
            <a:endParaRPr sz="18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Increase high-value event inquiries</a:t>
            </a:r>
            <a:r>
              <a:rPr lang="en"/>
              <a:t> aligned with your ideal event mix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Improve conversion</a:t>
            </a:r>
            <a:r>
              <a:rPr lang="en"/>
              <a:t> by supporting tours, follow-ups, and proposals with the right visuals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Reduce sales effort per booking</a:t>
            </a:r>
            <a:r>
              <a:rPr lang="en"/>
              <a:t> by speeding up responses and client decision-making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Expand brand reach</a:t>
            </a:r>
            <a:r>
              <a:rPr lang="en"/>
              <a:t> through trusted partner and planner networks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PartySlate</a:t>
            </a:r>
            <a:endParaRPr/>
          </a:p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273600" y="9503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PartySlate supports revenue across the full client journey: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Profile &amp; Directory exposure</a:t>
            </a:r>
            <a:r>
              <a:rPr lang="en"/>
              <a:t>: High-intent search visibility that drives demand and higher-value inquiries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Photo Hub sales enablement</a:t>
            </a:r>
            <a:r>
              <a:rPr lang="en"/>
              <a:t>: Store, find, and share event visuals to shorten the sales cycle and increase conversion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Outfit ExtraLight"/>
                <a:ea typeface="Outfit ExtraLight"/>
                <a:cs typeface="Outfit ExtraLight"/>
                <a:sym typeface="Outfit ExtraLight"/>
              </a:rPr>
              <a:t>PartySlate attracts hosts planning all types of events  </a:t>
            </a:r>
            <a:endParaRPr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  <p:sp>
        <p:nvSpPr>
          <p:cNvPr id="145" name="Google Shape;145;p31"/>
          <p:cNvSpPr txBox="1"/>
          <p:nvPr/>
        </p:nvSpPr>
        <p:spPr>
          <a:xfrm>
            <a:off x="398394" y="1360075"/>
            <a:ext cx="978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PartySlate.com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146" name="Google Shape;146;p31"/>
          <p:cNvCxnSpPr/>
          <p:nvPr/>
        </p:nvCxnSpPr>
        <p:spPr>
          <a:xfrm>
            <a:off x="322200" y="2154317"/>
            <a:ext cx="4536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31"/>
          <p:cNvSpPr txBox="1"/>
          <p:nvPr/>
        </p:nvSpPr>
        <p:spPr>
          <a:xfrm>
            <a:off x="1765625" y="1360075"/>
            <a:ext cx="1405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5.5</a:t>
            </a: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 million</a:t>
            </a:r>
            <a:endParaRPr b="1" sz="16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Visitors last 12 months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48" name="Google Shape;148;p31"/>
          <p:cNvSpPr txBox="1"/>
          <p:nvPr/>
        </p:nvSpPr>
        <p:spPr>
          <a:xfrm>
            <a:off x="398394" y="2317625"/>
            <a:ext cx="978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Social Media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49" name="Google Shape;149;p31"/>
          <p:cNvSpPr txBox="1"/>
          <p:nvPr/>
        </p:nvSpPr>
        <p:spPr>
          <a:xfrm>
            <a:off x="3534747" y="2317625"/>
            <a:ext cx="13236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8.2 M </a:t>
            </a:r>
            <a:br>
              <a:rPr lang="en" sz="24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Monthly Instagram impressions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150" name="Google Shape;150;p31"/>
          <p:cNvCxnSpPr/>
          <p:nvPr/>
        </p:nvCxnSpPr>
        <p:spPr>
          <a:xfrm>
            <a:off x="322200" y="3100108"/>
            <a:ext cx="4536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31"/>
          <p:cNvSpPr txBox="1"/>
          <p:nvPr/>
        </p:nvSpPr>
        <p:spPr>
          <a:xfrm>
            <a:off x="398394" y="3242275"/>
            <a:ext cx="978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Email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2" name="Google Shape;152;p31"/>
          <p:cNvSpPr txBox="1"/>
          <p:nvPr/>
        </p:nvSpPr>
        <p:spPr>
          <a:xfrm>
            <a:off x="1765625" y="3242275"/>
            <a:ext cx="1515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150,000+</a:t>
            </a:r>
            <a:br>
              <a:rPr lang="en" sz="20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Email subscriber</a:t>
            </a: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s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153" name="Google Shape;153;p31"/>
          <p:cNvCxnSpPr/>
          <p:nvPr/>
        </p:nvCxnSpPr>
        <p:spPr>
          <a:xfrm>
            <a:off x="322200" y="4045900"/>
            <a:ext cx="4536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31"/>
          <p:cNvSpPr txBox="1"/>
          <p:nvPr/>
        </p:nvSpPr>
        <p:spPr>
          <a:xfrm>
            <a:off x="398394" y="4182325"/>
            <a:ext cx="1038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Events  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5" name="Google Shape;155;p31"/>
          <p:cNvSpPr txBox="1"/>
          <p:nvPr/>
        </p:nvSpPr>
        <p:spPr>
          <a:xfrm>
            <a:off x="1765625" y="4182325"/>
            <a:ext cx="13236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10</a:t>
            </a:r>
            <a:endParaRPr b="1" sz="16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Large scale, high profile </a:t>
            </a:r>
            <a:br>
              <a:rPr lang="en" sz="9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PartySlate Summits/ year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6" name="Google Shape;156;p31"/>
          <p:cNvSpPr txBox="1"/>
          <p:nvPr/>
        </p:nvSpPr>
        <p:spPr>
          <a:xfrm>
            <a:off x="3534750" y="4182325"/>
            <a:ext cx="11910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10+</a:t>
            </a:r>
            <a:br>
              <a:rPr lang="en" sz="20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Partnership events/ year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7" name="Google Shape;157;p31"/>
          <p:cNvSpPr txBox="1"/>
          <p:nvPr/>
        </p:nvSpPr>
        <p:spPr>
          <a:xfrm>
            <a:off x="1766728" y="2317625"/>
            <a:ext cx="1405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400,000</a:t>
            </a:r>
            <a:br>
              <a:rPr lang="en" sz="24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Instagram followers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pic>
        <p:nvPicPr>
          <p:cNvPr id="158" name="Google Shape;15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051" y="1706750"/>
            <a:ext cx="3274924" cy="277312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1"/>
          <p:cNvSpPr txBox="1"/>
          <p:nvPr>
            <p:ph type="title"/>
          </p:nvPr>
        </p:nvSpPr>
        <p:spPr>
          <a:xfrm>
            <a:off x="5932125" y="1237075"/>
            <a:ext cx="2662500" cy="2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utfit ExtraLight"/>
                <a:ea typeface="Outfit ExtraLight"/>
                <a:cs typeface="Outfit ExtraLight"/>
                <a:sym typeface="Outfit ExtraLight"/>
              </a:rPr>
              <a:t>Inquiry breakout </a:t>
            </a:r>
            <a:endParaRPr sz="1500">
              <a:latin typeface="Outfit ExtraLight"/>
              <a:ea typeface="Outfit ExtraLight"/>
              <a:cs typeface="Outfit ExtraLight"/>
              <a:sym typeface="Outfit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utfit ExtraLight"/>
                <a:ea typeface="Outfit ExtraLight"/>
                <a:cs typeface="Outfit ExtraLight"/>
                <a:sym typeface="Outfit ExtraLight"/>
              </a:rPr>
              <a:t>last 12 months</a:t>
            </a:r>
            <a:endParaRPr i="1" sz="1500">
              <a:highlight>
                <a:srgbClr val="FFFF00"/>
              </a:highlight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  <p:sp>
        <p:nvSpPr>
          <p:cNvPr id="160" name="Google Shape;160;p31"/>
          <p:cNvSpPr txBox="1"/>
          <p:nvPr/>
        </p:nvSpPr>
        <p:spPr>
          <a:xfrm>
            <a:off x="3560347" y="1360075"/>
            <a:ext cx="13236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70%</a:t>
            </a:r>
            <a:endParaRPr b="1" sz="16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Of our traffic is sourced from a high-intent Google searches 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161" name="Google Shape;161;p31"/>
          <p:cNvCxnSpPr/>
          <p:nvPr/>
        </p:nvCxnSpPr>
        <p:spPr>
          <a:xfrm>
            <a:off x="398400" y="1208525"/>
            <a:ext cx="4536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PartySlate Customer Success and Support</a:t>
            </a:r>
            <a:endParaRPr sz="2600"/>
          </a:p>
        </p:txBody>
      </p:sp>
      <p:sp>
        <p:nvSpPr>
          <p:cNvPr id="175" name="Google Shape;175;p34"/>
          <p:cNvSpPr txBox="1"/>
          <p:nvPr>
            <p:ph idx="1" type="body"/>
          </p:nvPr>
        </p:nvSpPr>
        <p:spPr>
          <a:xfrm>
            <a:off x="311700" y="772555"/>
            <a:ext cx="8520600" cy="38166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utfit ExtraLight"/>
                <a:ea typeface="Outfit ExtraLight"/>
                <a:cs typeface="Outfit ExtraLight"/>
                <a:sym typeface="Outfit ExtraLight"/>
              </a:rPr>
              <a:t>We provide hands-on support to help you drive visibility, inquiries, and revenue.</a:t>
            </a:r>
            <a:endParaRPr sz="1800">
              <a:latin typeface="Outfit ExtraLight"/>
              <a:ea typeface="Outfit ExtraLight"/>
              <a:cs typeface="Outfit ExtraLight"/>
              <a:sym typeface="Outfit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utfit"/>
                <a:ea typeface="Outfit"/>
                <a:cs typeface="Outfit"/>
                <a:sym typeface="Outfit"/>
              </a:rPr>
              <a:t>Onboarding</a:t>
            </a:r>
            <a:endParaRPr b="1" sz="14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Our Operations team partners with your sales and marketing teams to optimize your profile for high-value inquiries.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utfit"/>
                <a:ea typeface="Outfit"/>
                <a:cs typeface="Outfit"/>
                <a:sym typeface="Outfit"/>
              </a:rPr>
              <a:t>Account Reviews</a:t>
            </a:r>
            <a:endParaRPr b="1" sz="14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A dedicated Customer Success Manager meets with you 3× annually to review performance, inquiry quality, and optimization opportunities.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utfit"/>
                <a:ea typeface="Outfit"/>
                <a:cs typeface="Outfit"/>
                <a:sym typeface="Outfit"/>
              </a:rPr>
              <a:t>Analytics</a:t>
            </a:r>
            <a:endParaRPr b="1" sz="14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A centralized dashboard tracks profile views, inquiries, calls, and clicks so you can measure impact and make informed decisions.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type="title"/>
          </p:nvPr>
        </p:nvSpPr>
        <p:spPr>
          <a:xfrm>
            <a:off x="311700" y="240475"/>
            <a:ext cx="44499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utfit ExtraLight"/>
                <a:ea typeface="Outfit ExtraLight"/>
                <a:cs typeface="Outfit ExtraLight"/>
                <a:sym typeface="Outfit ExtraLight"/>
              </a:rPr>
              <a:t>Marketing Activities</a:t>
            </a:r>
            <a:endParaRPr sz="2600"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  <p:sp>
        <p:nvSpPr>
          <p:cNvPr id="181" name="Google Shape;181;p35"/>
          <p:cNvSpPr txBox="1"/>
          <p:nvPr>
            <p:ph idx="1" type="body"/>
          </p:nvPr>
        </p:nvSpPr>
        <p:spPr>
          <a:xfrm>
            <a:off x="311700" y="1285305"/>
            <a:ext cx="4194600" cy="3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Outfit Light"/>
                <a:ea typeface="Outfit Light"/>
                <a:cs typeface="Outfit Light"/>
                <a:sym typeface="Outfit Light"/>
              </a:rPr>
              <a:t>PartySlate delivers </a:t>
            </a:r>
            <a:r>
              <a:rPr lang="en" sz="1700">
                <a:latin typeface="Outfit Light"/>
                <a:ea typeface="Outfit Light"/>
                <a:cs typeface="Outfit Light"/>
                <a:sym typeface="Outfit Light"/>
              </a:rPr>
              <a:t>additional</a:t>
            </a:r>
            <a:r>
              <a:rPr lang="en" sz="1700">
                <a:latin typeface="Outfit Light"/>
                <a:ea typeface="Outfit Light"/>
                <a:cs typeface="Outfit Light"/>
                <a:sym typeface="Outfit Light"/>
              </a:rPr>
              <a:t> </a:t>
            </a:r>
            <a:r>
              <a:rPr lang="en" sz="1700">
                <a:latin typeface="Outfit Light"/>
                <a:ea typeface="Outfit Light"/>
                <a:cs typeface="Outfit Light"/>
                <a:sym typeface="Outfit Light"/>
              </a:rPr>
              <a:t>opportunities to increase exposure to event professionals.</a:t>
            </a:r>
            <a:endParaRPr sz="17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PartySlate Summit - 12 annual industry events to meet and interact with pros.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Media Sponsorship - You host an event, we invite impactful guest that can drive event revenue.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Instagram - PartySlate will post a venue spotlight to drive increased exposure.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235500" y="240475"/>
            <a:ext cx="3517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Seamless Integrations with Your Existing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267882" y="1255127"/>
            <a:ext cx="3517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PartySlate integrates with your existing tools to streamline lead management, improve follow-ups, and accelerate the sales cycle.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CRM reporting provides visibility into inquiry details and close rates.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With Canva you can create and publish proposals and marketing visuals faster using approved event imagery without hunting for files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6"/>
          <p:cNvSpPr/>
          <p:nvPr/>
        </p:nvSpPr>
        <p:spPr>
          <a:xfrm>
            <a:off x="4008000" y="0"/>
            <a:ext cx="5136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6" title="integr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550" y="434050"/>
            <a:ext cx="4846899" cy="484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 Summary</a:t>
            </a:r>
            <a:endParaRPr/>
          </a:p>
        </p:txBody>
      </p:sp>
      <p:sp>
        <p:nvSpPr>
          <p:cNvPr id="195" name="Google Shape;195;p37"/>
          <p:cNvSpPr txBox="1"/>
          <p:nvPr>
            <p:ph idx="1" type="body"/>
          </p:nvPr>
        </p:nvSpPr>
        <p:spPr>
          <a:xfrm>
            <a:off x="273600" y="895060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Profiles</a:t>
            </a:r>
            <a:r>
              <a:rPr b="1" lang="en"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lang="en"/>
              <a:t> X,Y, Z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Includes:</a:t>
            </a:r>
            <a:endParaRPr b="1"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/>
              <a:t>Premium PartySlate Profile placement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/>
              <a:t>Photo Hub sales enablement tools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/>
              <a:t>Integrations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/>
              <a:t>Additional Marketing Activities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/>
              <a:t>Onboarding, support, and performance reviews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Discounting</a:t>
            </a:r>
            <a:r>
              <a:rPr b="1" lang="en"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lang="en"/>
              <a:t> 30% multi-location group discount applied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Billing: </a:t>
            </a:r>
            <a:r>
              <a:rPr lang="en"/>
              <a:t>Annual or quarterly options available</a:t>
            </a:r>
            <a:endParaRPr b="1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457200" y="334667"/>
            <a:ext cx="8229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Outfit ExtraLight"/>
                <a:ea typeface="Outfit ExtraLight"/>
                <a:cs typeface="Outfit ExtraLight"/>
                <a:sym typeface="Outfit ExtraLight"/>
              </a:rPr>
              <a:t>Trusted by leading hospitality brands to drive demand and support conversion</a:t>
            </a:r>
            <a:endParaRPr sz="2600"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  <p:pic>
        <p:nvPicPr>
          <p:cNvPr id="201" name="Google Shape;20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908" y="1583137"/>
            <a:ext cx="1421100" cy="7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1154" y="1443879"/>
            <a:ext cx="1047219" cy="1047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5384" y="2795752"/>
            <a:ext cx="1598760" cy="88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075" y="4113313"/>
            <a:ext cx="1598766" cy="831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5389" y="4113313"/>
            <a:ext cx="1598750" cy="887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18694" y="1390524"/>
            <a:ext cx="1153925" cy="115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9869" y="2754592"/>
            <a:ext cx="1857177" cy="9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8"/>
          <p:cNvPicPr preferRelativeResize="0"/>
          <p:nvPr/>
        </p:nvPicPr>
        <p:blipFill rotWithShape="1">
          <a:blip r:embed="rId10">
            <a:alphaModFix/>
          </a:blip>
          <a:srcRect b="29129" l="0" r="0" t="12751"/>
          <a:stretch/>
        </p:blipFill>
        <p:spPr>
          <a:xfrm>
            <a:off x="3702743" y="4113313"/>
            <a:ext cx="1785826" cy="6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49227" y="2716242"/>
            <a:ext cx="1492858" cy="10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tyS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