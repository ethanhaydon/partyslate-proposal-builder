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89" r:id="rId4"/>
    <p:sldMasterId id="2147483690" r:id="rId5"/>
    <p:sldMasterId id="214748369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715000" cx="9144000"/>
  <p:notesSz cx="6858000" cy="9144000"/>
  <p:embeddedFontLst>
    <p:embeddedFont>
      <p:font typeface="Outfit ExtraBold"/>
      <p:bold r:id="rId22"/>
    </p:embeddedFont>
    <p:embeddedFont>
      <p:font typeface="Outfit ExtraLight"/>
      <p:regular r:id="rId23"/>
      <p:bold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Outfit Light"/>
      <p:regular r:id="rId29"/>
      <p:bold r:id="rId30"/>
    </p:embeddedFont>
    <p:embeddedFont>
      <p:font typeface="Outfit"/>
      <p:regular r:id="rId31"/>
      <p:bold r:id="rId32"/>
    </p:embeddedFont>
    <p:embeddedFont>
      <p:font typeface="Open Sans Light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9AA0A6"/>
          </p15:clr>
        </p15:guide>
        <p15:guide id="2" pos="2880">
          <p15:clr>
            <a:srgbClr val="9AA0A6"/>
          </p15:clr>
        </p15:guide>
        <p15:guide id="3" pos="432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  <p:guide pos="43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3.xml"/><Relationship Id="rId22" Type="http://schemas.openxmlformats.org/officeDocument/2006/relationships/font" Target="fonts/OutfitExtraBold-bold.fntdata"/><Relationship Id="rId21" Type="http://schemas.openxmlformats.org/officeDocument/2006/relationships/slide" Target="slides/slide14.xml"/><Relationship Id="rId24" Type="http://schemas.openxmlformats.org/officeDocument/2006/relationships/font" Target="fonts/OutfitExtraLight-bold.fntdata"/><Relationship Id="rId23" Type="http://schemas.openxmlformats.org/officeDocument/2006/relationships/font" Target="fonts/OutfitExtra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OutfitLight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utfit-regular.fntdata"/><Relationship Id="rId30" Type="http://schemas.openxmlformats.org/officeDocument/2006/relationships/font" Target="fonts/OutfitLight-bold.fntdata"/><Relationship Id="rId11" Type="http://schemas.openxmlformats.org/officeDocument/2006/relationships/slide" Target="slides/slide4.xml"/><Relationship Id="rId33" Type="http://schemas.openxmlformats.org/officeDocument/2006/relationships/font" Target="fonts/OpenSansLight-regular.fntdata"/><Relationship Id="rId10" Type="http://schemas.openxmlformats.org/officeDocument/2006/relationships/slide" Target="slides/slide3.xml"/><Relationship Id="rId32" Type="http://schemas.openxmlformats.org/officeDocument/2006/relationships/font" Target="fonts/Outfit-bold.fntdata"/><Relationship Id="rId13" Type="http://schemas.openxmlformats.org/officeDocument/2006/relationships/slide" Target="slides/slide6.xml"/><Relationship Id="rId35" Type="http://schemas.openxmlformats.org/officeDocument/2006/relationships/font" Target="fonts/OpenSansLight-italic.fntdata"/><Relationship Id="rId12" Type="http://schemas.openxmlformats.org/officeDocument/2006/relationships/slide" Target="slides/slide5.xml"/><Relationship Id="rId34" Type="http://schemas.openxmlformats.org/officeDocument/2006/relationships/font" Target="fonts/OpenSansLight-bold.fntdata"/><Relationship Id="rId15" Type="http://schemas.openxmlformats.org/officeDocument/2006/relationships/slide" Target="slides/slide8.xml"/><Relationship Id="rId37" Type="http://schemas.openxmlformats.org/officeDocument/2006/relationships/font" Target="fonts/OpenSans-regular.fntdata"/><Relationship Id="rId14" Type="http://schemas.openxmlformats.org/officeDocument/2006/relationships/slide" Target="slides/slide7.xml"/><Relationship Id="rId36" Type="http://schemas.openxmlformats.org/officeDocument/2006/relationships/font" Target="fonts/OpenSansLight-boldItalic.fntdata"/><Relationship Id="rId17" Type="http://schemas.openxmlformats.org/officeDocument/2006/relationships/slide" Target="slides/slide10.xml"/><Relationship Id="rId39" Type="http://schemas.openxmlformats.org/officeDocument/2006/relationships/font" Target="fonts/OpenSans-italic.fntdata"/><Relationship Id="rId16" Type="http://schemas.openxmlformats.org/officeDocument/2006/relationships/slide" Target="slides/slide9.xml"/><Relationship Id="rId38" Type="http://schemas.openxmlformats.org/officeDocument/2006/relationships/font" Target="fonts/OpenSans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6d3a96e13b_0_5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6d3a96e13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33881fe40_0_23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33881fe40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33881fe40_0_24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33881fe40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33881fe40_0_25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33881fe40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d537772a5_0_122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d537772a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39076efd2_0_106:notes"/>
          <p:cNvSpPr/>
          <p:nvPr>
            <p:ph idx="2" type="sldImg"/>
          </p:nvPr>
        </p:nvSpPr>
        <p:spPr>
          <a:xfrm>
            <a:off x="1280160" y="1143000"/>
            <a:ext cx="6583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e39076efd2_0_10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e39076efd2_0_10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33881fe40_0_30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33881fe40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9d79aa176_0_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9d79aa1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33881fe40_0_36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33881fe40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e39d599c8e_0_92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e39d599c8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what you should always be tying back to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39076efd2_0_230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39076efd2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what you should always be tying back to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39076efd2_0_442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39076efd2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a6dd9ca3d_0_5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5a6dd9ca3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b640a019c_0_36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5b640a019c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77175" y="-61500"/>
            <a:ext cx="9272100" cy="585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37575" y="955756"/>
            <a:ext cx="3301965" cy="330196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273075" y="3791667"/>
            <a:ext cx="8520600" cy="64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Outfit ExtraLight"/>
              <a:buNone/>
              <a:defRPr sz="2600">
                <a:solidFill>
                  <a:schemeClr val="lt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4369616"/>
            <a:ext cx="852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Outfit Light"/>
              <a:buNone/>
              <a:defRPr sz="1600">
                <a:solidFill>
                  <a:srgbClr val="CCCCCC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hite">
  <p:cSld name="TITLE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3775" y="2630417"/>
            <a:ext cx="3091207" cy="28428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ctrTitle"/>
          </p:nvPr>
        </p:nvSpPr>
        <p:spPr>
          <a:xfrm>
            <a:off x="273075" y="3791667"/>
            <a:ext cx="8520600" cy="64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Font typeface="Outfit ExtraLight"/>
              <a:buNone/>
              <a:defRPr sz="2600"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Open Sans Light"/>
              <a:buNone/>
              <a:defRPr sz="52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4369616"/>
            <a:ext cx="852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utfit Light"/>
              <a:buNone/>
              <a:defRPr sz="1600"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cover">
  <p:cSld name="TITLE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-77175" y="-61500"/>
            <a:ext cx="9272100" cy="585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840309" y="5137005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37575" y="955756"/>
            <a:ext cx="3301965" cy="3301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Light"/>
              <a:buNone/>
              <a:defRPr sz="28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273600" y="1026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Light"/>
              <a:buNone/>
              <a:defRPr sz="28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Photo">
  <p:cSld name="TITLE_AND_BODY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4576825" y="-7825"/>
            <a:ext cx="4586400" cy="5722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" name="Google Shape;3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273600" y="10265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Space">
  <p:cSld name="TITLE_AND_BODY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273600" y="10265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 1 + 1 Col ">
  <p:cSld name="TITLE_AND_BODY_1_1_2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9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/>
            </a:lvl1pPr>
            <a:lvl2pPr lvl="1">
              <a:buNone/>
              <a:defRPr b="1" sz="800"/>
            </a:lvl2pPr>
            <a:lvl3pPr lvl="2">
              <a:buNone/>
              <a:defRPr b="1" sz="800"/>
            </a:lvl3pPr>
            <a:lvl4pPr lvl="3">
              <a:buNone/>
              <a:defRPr b="1" sz="800"/>
            </a:lvl4pPr>
            <a:lvl5pPr lvl="4">
              <a:buNone/>
              <a:defRPr b="1" sz="800"/>
            </a:lvl5pPr>
            <a:lvl6pPr lvl="5">
              <a:buNone/>
              <a:defRPr b="1" sz="800"/>
            </a:lvl6pPr>
            <a:lvl7pPr lvl="6">
              <a:buNone/>
              <a:defRPr b="1" sz="800"/>
            </a:lvl7pPr>
            <a:lvl8pPr lvl="7">
              <a:buNone/>
              <a:defRPr b="1" sz="800"/>
            </a:lvl8pPr>
            <a:lvl9pPr lvl="8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35500" y="240472"/>
            <a:ext cx="85587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5487275" y="1026528"/>
            <a:ext cx="3306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 2/3 + 1 Col  1/3">
  <p:cSld name="TITLE_AND_BODY_1_1_2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" name="Google Shape;46;p10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/>
            </a:lvl1pPr>
            <a:lvl2pPr lvl="1">
              <a:buNone/>
              <a:defRPr b="1" sz="800"/>
            </a:lvl2pPr>
            <a:lvl3pPr lvl="2">
              <a:buNone/>
              <a:defRPr b="1" sz="800"/>
            </a:lvl3pPr>
            <a:lvl4pPr lvl="3">
              <a:buNone/>
              <a:defRPr b="1" sz="800"/>
            </a:lvl4pPr>
            <a:lvl5pPr lvl="4">
              <a:buNone/>
              <a:defRPr b="1" sz="800"/>
            </a:lvl5pPr>
            <a:lvl6pPr lvl="5">
              <a:buNone/>
              <a:defRPr b="1" sz="800"/>
            </a:lvl6pPr>
            <a:lvl7pPr lvl="6">
              <a:buNone/>
              <a:defRPr b="1" sz="800"/>
            </a:lvl7pPr>
            <a:lvl8pPr lvl="7">
              <a:buNone/>
              <a:defRPr b="1" sz="800"/>
            </a:lvl8pPr>
            <a:lvl9pPr lvl="8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235500" y="240472"/>
            <a:ext cx="85587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6178725" y="1026528"/>
            <a:ext cx="26154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AND_BODY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11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800"/>
            </a:lvl1pPr>
            <a:lvl2pPr lvl="1" rtl="0">
              <a:buNone/>
              <a:defRPr b="1" sz="800"/>
            </a:lvl2pPr>
            <a:lvl3pPr lvl="2" rtl="0">
              <a:buNone/>
              <a:defRPr b="1" sz="800"/>
            </a:lvl3pPr>
            <a:lvl4pPr lvl="3" rtl="0">
              <a:buNone/>
              <a:defRPr b="1" sz="800"/>
            </a:lvl4pPr>
            <a:lvl5pPr lvl="4" rtl="0">
              <a:buNone/>
              <a:defRPr b="1" sz="800"/>
            </a:lvl5pPr>
            <a:lvl6pPr lvl="5" rtl="0">
              <a:buNone/>
              <a:defRPr b="1" sz="800"/>
            </a:lvl6pPr>
            <a:lvl7pPr lvl="6" rtl="0">
              <a:buNone/>
              <a:defRPr b="1" sz="800"/>
            </a:lvl7pPr>
            <a:lvl8pPr lvl="7" rtl="0">
              <a:buNone/>
              <a:defRPr b="1" sz="800"/>
            </a:lvl8pPr>
            <a:lvl9pPr lvl="8" rtl="0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reaker slide">
  <p:cSld name="TITLE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-77175" y="-61500"/>
            <a:ext cx="9272100" cy="585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1840309" y="5137005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</a:defRPr>
            </a:lvl1pPr>
            <a:lvl2pPr lvl="1" rtl="0">
              <a:buNone/>
              <a:defRPr sz="1300">
                <a:solidFill>
                  <a:schemeClr val="dk1"/>
                </a:solidFill>
              </a:defRPr>
            </a:lvl2pPr>
            <a:lvl3pPr lvl="2" rtl="0">
              <a:buNone/>
              <a:defRPr sz="1300">
                <a:solidFill>
                  <a:schemeClr val="dk1"/>
                </a:solidFill>
              </a:defRPr>
            </a:lvl3pPr>
            <a:lvl4pPr lvl="3" rtl="0">
              <a:buNone/>
              <a:defRPr sz="1300">
                <a:solidFill>
                  <a:schemeClr val="dk1"/>
                </a:solidFill>
              </a:defRPr>
            </a:lvl4pPr>
            <a:lvl5pPr lvl="4" rtl="0">
              <a:buNone/>
              <a:defRPr sz="1300">
                <a:solidFill>
                  <a:schemeClr val="dk1"/>
                </a:solidFill>
              </a:defRPr>
            </a:lvl5pPr>
            <a:lvl6pPr lvl="5" rtl="0">
              <a:buNone/>
              <a:defRPr sz="1300">
                <a:solidFill>
                  <a:schemeClr val="dk1"/>
                </a:solidFill>
              </a:defRPr>
            </a:lvl6pPr>
            <a:lvl7pPr lvl="6" rtl="0">
              <a:buNone/>
              <a:defRPr sz="1300">
                <a:solidFill>
                  <a:schemeClr val="dk1"/>
                </a:solidFill>
              </a:defRPr>
            </a:lvl7pPr>
            <a:lvl8pPr lvl="7" rtl="0">
              <a:buNone/>
              <a:defRPr sz="1300">
                <a:solidFill>
                  <a:schemeClr val="dk1"/>
                </a:solidFill>
              </a:defRPr>
            </a:lvl8pPr>
            <a:lvl9pPr lvl="8" rtl="0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2611139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800">
          <p15:clr>
            <a:srgbClr val="FA7B17"/>
          </p15:clr>
        </p15:guide>
        <p15:guide id="2" pos="2872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Light"/>
              <a:buNone/>
              <a:defRPr sz="28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273600" y="10265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4731900" y="1026528"/>
            <a:ext cx="41385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Agenda">
  <p:cSld name="1_Agenda">
    <p:bg>
      <p:bgPr>
        <a:noFill/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271435" y="5280468"/>
            <a:ext cx="666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>
              <a:spcBef>
                <a:spcPts val="0"/>
              </a:spcBef>
              <a:buNone/>
              <a:defRPr b="0" i="0" sz="9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Light"/>
              <a:buNone/>
              <a:defRPr sz="28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73600" y="1026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">
  <p:cSld name="TITLE_AND_BODY_2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-40975" y="-45450"/>
            <a:ext cx="9195300" cy="5807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2553922"/>
            <a:ext cx="8520600" cy="6363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80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Photo 1">
  <p:cSld name="TITLE_AND_BODY_1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4576825" y="-7825"/>
            <a:ext cx="4586400" cy="5722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273600" y="10265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457200" y="334667"/>
            <a:ext cx="8229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hasCustomPrompt="1" type="title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900"/>
              <a:buFont typeface="Outfit ExtraBold"/>
              <a:buNone/>
              <a:defRPr sz="11900"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47600" y="3410694"/>
            <a:ext cx="82488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Photo 2">
  <p:cSld name="TITLE_AND_BODY_1_4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6825" y="-7825"/>
            <a:ext cx="4586400" cy="5722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1"/>
          <p:cNvSpPr txBox="1"/>
          <p:nvPr>
            <p:ph type="title"/>
          </p:nvPr>
        </p:nvSpPr>
        <p:spPr>
          <a:xfrm>
            <a:off x="311700" y="316672"/>
            <a:ext cx="43491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311700" y="1026525"/>
            <a:ext cx="39639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87" name="Google Shape;8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294673" cy="11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21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/>
            </a:lvl1pPr>
            <a:lvl2pPr lvl="1">
              <a:buNone/>
              <a:defRPr b="1" sz="800"/>
            </a:lvl2pPr>
            <a:lvl3pPr lvl="2">
              <a:buNone/>
              <a:defRPr b="1" sz="800"/>
            </a:lvl3pPr>
            <a:lvl4pPr lvl="3">
              <a:buNone/>
              <a:defRPr b="1" sz="800"/>
            </a:lvl4pPr>
            <a:lvl5pPr lvl="4">
              <a:buNone/>
              <a:defRPr b="1" sz="800"/>
            </a:lvl5pPr>
            <a:lvl6pPr lvl="5">
              <a:buNone/>
              <a:defRPr b="1" sz="800"/>
            </a:lvl6pPr>
            <a:lvl7pPr lvl="6">
              <a:buNone/>
              <a:defRPr b="1" sz="800"/>
            </a:lvl7pPr>
            <a:lvl8pPr lvl="7">
              <a:buNone/>
              <a:defRPr b="1" sz="800"/>
            </a:lvl8pPr>
            <a:lvl9pPr lvl="8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Space 1">
  <p:cSld name="TITLE_AND_BODY_1_1_3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type="title"/>
          </p:nvPr>
        </p:nvSpPr>
        <p:spPr>
          <a:xfrm>
            <a:off x="311700" y="316672"/>
            <a:ext cx="43491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311700" y="1026528"/>
            <a:ext cx="43491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2pPr>
            <a:lvl3pPr indent="-304800" lvl="2" marL="13716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3pPr>
            <a:lvl4pPr indent="-304800" lvl="3" marL="18288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5pPr>
            <a:lvl6pPr indent="-304800" lvl="5" marL="27432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6pPr>
            <a:lvl7pPr indent="-304800" lvl="6" marL="32004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8pPr>
            <a:lvl9pPr indent="-304800" lvl="8" marL="41148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3" name="Google Shape;9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294673" cy="11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22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/>
            </a:lvl1pPr>
            <a:lvl2pPr lvl="1">
              <a:buNone/>
              <a:defRPr b="1" sz="800"/>
            </a:lvl2pPr>
            <a:lvl3pPr lvl="2">
              <a:buNone/>
              <a:defRPr b="1" sz="800"/>
            </a:lvl3pPr>
            <a:lvl4pPr lvl="3">
              <a:buNone/>
              <a:defRPr b="1" sz="800"/>
            </a:lvl4pPr>
            <a:lvl5pPr lvl="4">
              <a:buNone/>
              <a:defRPr b="1" sz="800"/>
            </a:lvl5pPr>
            <a:lvl6pPr lvl="5">
              <a:buNone/>
              <a:defRPr b="1" sz="800"/>
            </a:lvl6pPr>
            <a:lvl7pPr lvl="6">
              <a:buNone/>
              <a:defRPr b="1" sz="800"/>
            </a:lvl7pPr>
            <a:lvl8pPr lvl="7">
              <a:buNone/>
              <a:defRPr b="1" sz="800"/>
            </a:lvl8pPr>
            <a:lvl9pPr lvl="8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1">
  <p:cSld name="TITLE_AND_BODY_3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311700" y="3166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311700" y="11027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99" name="Google Shape;99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294673" cy="11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23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/>
            </a:lvl1pPr>
            <a:lvl2pPr lvl="1">
              <a:buNone/>
              <a:defRPr b="1" sz="800"/>
            </a:lvl2pPr>
            <a:lvl3pPr lvl="2">
              <a:buNone/>
              <a:defRPr b="1" sz="800"/>
            </a:lvl3pPr>
            <a:lvl4pPr lvl="3">
              <a:buNone/>
              <a:defRPr b="1" sz="800"/>
            </a:lvl4pPr>
            <a:lvl5pPr lvl="4">
              <a:buNone/>
              <a:defRPr b="1" sz="800"/>
            </a:lvl5pPr>
            <a:lvl6pPr lvl="5">
              <a:buNone/>
              <a:defRPr b="1" sz="800"/>
            </a:lvl6pPr>
            <a:lvl7pPr lvl="6">
              <a:buNone/>
              <a:defRPr b="1" sz="800"/>
            </a:lvl7pPr>
            <a:lvl8pPr lvl="7">
              <a:buNone/>
              <a:defRPr b="1" sz="800"/>
            </a:lvl8pPr>
            <a:lvl9pPr lvl="8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2">
  <p:cSld name="TITLE_AND_BODY_4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type="title"/>
          </p:nvPr>
        </p:nvSpPr>
        <p:spPr>
          <a:xfrm>
            <a:off x="311700" y="3166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311700" y="11027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294673" cy="119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24"/>
          <p:cNvCxnSpPr/>
          <p:nvPr/>
        </p:nvCxnSpPr>
        <p:spPr>
          <a:xfrm>
            <a:off x="1857750" y="5284597"/>
            <a:ext cx="0" cy="261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1895727" y="5198581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800"/>
            </a:lvl1pPr>
            <a:lvl2pPr lvl="1">
              <a:buNone/>
              <a:defRPr b="1" sz="800"/>
            </a:lvl2pPr>
            <a:lvl3pPr lvl="2">
              <a:buNone/>
              <a:defRPr b="1" sz="800"/>
            </a:lvl3pPr>
            <a:lvl4pPr lvl="3">
              <a:buNone/>
              <a:defRPr b="1" sz="800"/>
            </a:lvl4pPr>
            <a:lvl5pPr lvl="4">
              <a:buNone/>
              <a:defRPr b="1" sz="800"/>
            </a:lvl5pPr>
            <a:lvl6pPr lvl="5">
              <a:buNone/>
              <a:defRPr b="1" sz="800"/>
            </a:lvl6pPr>
            <a:lvl7pPr lvl="6">
              <a:buNone/>
              <a:defRPr b="1" sz="800"/>
            </a:lvl7pPr>
            <a:lvl8pPr lvl="7">
              <a:buNone/>
              <a:defRPr b="1" sz="800"/>
            </a:lvl8pPr>
            <a:lvl9pPr lvl="8">
              <a:buNone/>
              <a:defRPr b="1" sz="8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3">
  <p:cSld name="TITLE_AND_BODY_5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type="title"/>
          </p:nvPr>
        </p:nvSpPr>
        <p:spPr>
          <a:xfrm>
            <a:off x="311700" y="3166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10" name="Google Shape;110;p25"/>
          <p:cNvSpPr txBox="1"/>
          <p:nvPr>
            <p:ph idx="1" type="body"/>
          </p:nvPr>
        </p:nvSpPr>
        <p:spPr>
          <a:xfrm>
            <a:off x="311700" y="11027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11" name="Google Shape;11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1 1">
  <p:cSld name="TITLE_AND_BODY_3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311700" y="1026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15" name="Google Shape;115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/>
          <p:nvPr/>
        </p:nvSpPr>
        <p:spPr>
          <a:xfrm>
            <a:off x="-77175" y="-61500"/>
            <a:ext cx="9272100" cy="585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37575" y="955756"/>
            <a:ext cx="3301965" cy="330196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0"/>
          <p:cNvSpPr txBox="1"/>
          <p:nvPr>
            <p:ph type="ctrTitle"/>
          </p:nvPr>
        </p:nvSpPr>
        <p:spPr>
          <a:xfrm>
            <a:off x="273075" y="3791667"/>
            <a:ext cx="8520600" cy="64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 Light"/>
              <a:buNone/>
              <a:defRPr sz="2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25" name="Google Shape;125;p30"/>
          <p:cNvSpPr txBox="1"/>
          <p:nvPr>
            <p:ph idx="1" type="subTitle"/>
          </p:nvPr>
        </p:nvSpPr>
        <p:spPr>
          <a:xfrm>
            <a:off x="311700" y="4369616"/>
            <a:ext cx="85206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hite">
  <p:cSld name="TITLE_2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ctrTitle"/>
          </p:nvPr>
        </p:nvSpPr>
        <p:spPr>
          <a:xfrm>
            <a:off x="273075" y="3791667"/>
            <a:ext cx="8520600" cy="64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 Light"/>
              <a:buNone/>
              <a:defRPr sz="5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28" name="Google Shape;128;p31"/>
          <p:cNvSpPr txBox="1"/>
          <p:nvPr>
            <p:ph idx="1" type="subTitle"/>
          </p:nvPr>
        </p:nvSpPr>
        <p:spPr>
          <a:xfrm>
            <a:off x="311700" y="4369616"/>
            <a:ext cx="8520600" cy="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None/>
              <a:defRPr b="1" sz="12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"/>
              <a:buNone/>
              <a:defRPr b="1" sz="12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29" name="Google Shape;12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13775" y="2630417"/>
            <a:ext cx="3091207" cy="284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 cover">
  <p:cSld name="TITLE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2"/>
          <p:cNvSpPr/>
          <p:nvPr/>
        </p:nvSpPr>
        <p:spPr>
          <a:xfrm>
            <a:off x="-77175" y="-61500"/>
            <a:ext cx="9272100" cy="585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2"/>
          <p:cNvSpPr txBox="1"/>
          <p:nvPr>
            <p:ph idx="12" type="sldNum"/>
          </p:nvPr>
        </p:nvSpPr>
        <p:spPr>
          <a:xfrm>
            <a:off x="1840309" y="5137005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3" name="Google Shape;13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37575" y="955756"/>
            <a:ext cx="3301965" cy="3301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" type="tx">
  <p:cSld name="TITLE_AND_BOD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/>
          <p:nvPr>
            <p:ph type="title"/>
          </p:nvPr>
        </p:nvSpPr>
        <p:spPr>
          <a:xfrm>
            <a:off x="311700" y="3166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6" name="Google Shape;136;p33"/>
          <p:cNvSpPr txBox="1"/>
          <p:nvPr>
            <p:ph idx="1" type="body"/>
          </p:nvPr>
        </p:nvSpPr>
        <p:spPr>
          <a:xfrm>
            <a:off x="311700" y="11027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37" name="Google Shape;137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"/>
          <p:cNvSpPr txBox="1"/>
          <p:nvPr>
            <p:ph type="title"/>
          </p:nvPr>
        </p:nvSpPr>
        <p:spPr>
          <a:xfrm>
            <a:off x="311700" y="3166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0" name="Google Shape;14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Photo">
  <p:cSld name="TITLE_AND_BODY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/>
          <p:nvPr/>
        </p:nvSpPr>
        <p:spPr>
          <a:xfrm>
            <a:off x="4576825" y="-7825"/>
            <a:ext cx="4586400" cy="5722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5"/>
          <p:cNvSpPr txBox="1"/>
          <p:nvPr>
            <p:ph type="title"/>
          </p:nvPr>
        </p:nvSpPr>
        <p:spPr>
          <a:xfrm>
            <a:off x="311700" y="316672"/>
            <a:ext cx="43491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44" name="Google Shape;144;p35"/>
          <p:cNvSpPr txBox="1"/>
          <p:nvPr>
            <p:ph idx="1" type="body"/>
          </p:nvPr>
        </p:nvSpPr>
        <p:spPr>
          <a:xfrm>
            <a:off x="311700" y="1026525"/>
            <a:ext cx="3963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45" name="Google Shape;14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Space">
  <p:cSld name="TITLE_AND_BODY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6"/>
          <p:cNvSpPr txBox="1"/>
          <p:nvPr>
            <p:ph type="title"/>
          </p:nvPr>
        </p:nvSpPr>
        <p:spPr>
          <a:xfrm>
            <a:off x="311700" y="316672"/>
            <a:ext cx="43491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1" type="body"/>
          </p:nvPr>
        </p:nvSpPr>
        <p:spPr>
          <a:xfrm>
            <a:off x="311700" y="1026528"/>
            <a:ext cx="43491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2pPr>
            <a:lvl3pPr indent="-304800" lvl="2" marL="13716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3pPr>
            <a:lvl4pPr indent="-304800" lvl="3" marL="18288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5pPr>
            <a:lvl6pPr indent="-304800" lvl="5" marL="27432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6pPr>
            <a:lvl7pPr indent="-304800" lvl="6" marL="32004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8pPr>
            <a:lvl9pPr indent="-304800" lvl="8" marL="411480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49" name="Google Shape;149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AND_BODY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 1 + 1 Col ">
  <p:cSld name="TITLE_AND_BODY_1_1_2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8"/>
          <p:cNvSpPr txBox="1"/>
          <p:nvPr>
            <p:ph type="title"/>
          </p:nvPr>
        </p:nvSpPr>
        <p:spPr>
          <a:xfrm>
            <a:off x="235500" y="240472"/>
            <a:ext cx="85587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55" name="Google Shape;155;p38"/>
          <p:cNvSpPr txBox="1"/>
          <p:nvPr>
            <p:ph idx="1" type="body"/>
          </p:nvPr>
        </p:nvSpPr>
        <p:spPr>
          <a:xfrm>
            <a:off x="5487275" y="1026528"/>
            <a:ext cx="33069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1">
  <p:cSld name="TITLE_AND_BODY_3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9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Light"/>
              <a:buNone/>
              <a:defRPr sz="28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59" name="Google Shape;159;p39"/>
          <p:cNvSpPr txBox="1"/>
          <p:nvPr>
            <p:ph idx="1" type="body"/>
          </p:nvPr>
        </p:nvSpPr>
        <p:spPr>
          <a:xfrm>
            <a:off x="273600" y="1026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 + Photo 1">
  <p:cSld name="TITLE_AND_BODY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0"/>
          <p:cNvSpPr/>
          <p:nvPr/>
        </p:nvSpPr>
        <p:spPr>
          <a:xfrm>
            <a:off x="4576825" y="-7825"/>
            <a:ext cx="4586400" cy="5722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0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64" name="Google Shape;164;p40"/>
          <p:cNvSpPr txBox="1"/>
          <p:nvPr>
            <p:ph idx="1" type="body"/>
          </p:nvPr>
        </p:nvSpPr>
        <p:spPr>
          <a:xfrm>
            <a:off x="273600" y="10265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er">
  <p:cSld name="TITLE_AND_BODY_2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1"/>
          <p:cNvSpPr/>
          <p:nvPr/>
        </p:nvSpPr>
        <p:spPr>
          <a:xfrm>
            <a:off x="-40975" y="-45450"/>
            <a:ext cx="9195300" cy="58074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1"/>
          <p:cNvSpPr txBox="1"/>
          <p:nvPr>
            <p:ph type="title"/>
          </p:nvPr>
        </p:nvSpPr>
        <p:spPr>
          <a:xfrm>
            <a:off x="311700" y="2553922"/>
            <a:ext cx="8520600" cy="6363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80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1 1">
  <p:cSld name="TITLE_AND_BODY_3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Open Sans Light"/>
              <a:buNone/>
              <a:defRPr sz="24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70" name="Google Shape;170;p42"/>
          <p:cNvSpPr txBox="1"/>
          <p:nvPr>
            <p:ph idx="1" type="body"/>
          </p:nvPr>
        </p:nvSpPr>
        <p:spPr>
          <a:xfrm>
            <a:off x="311700" y="1026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71" name="Google Shape;17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 2/3 + 1 Col  1/3">
  <p:cSld name="TITLE_AND_BODY_1_1_2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3"/>
          <p:cNvSpPr txBox="1"/>
          <p:nvPr>
            <p:ph type="title"/>
          </p:nvPr>
        </p:nvSpPr>
        <p:spPr>
          <a:xfrm>
            <a:off x="235500" y="240472"/>
            <a:ext cx="85587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ExtraLight"/>
              <a:buNone/>
              <a:defRPr sz="24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75" name="Google Shape;175;p43"/>
          <p:cNvSpPr txBox="1"/>
          <p:nvPr>
            <p:ph idx="1" type="body"/>
          </p:nvPr>
        </p:nvSpPr>
        <p:spPr>
          <a:xfrm>
            <a:off x="6178725" y="1026528"/>
            <a:ext cx="26154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2">
  <p:cSld name="TITLE_AND_BODY_4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4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Light"/>
              <a:buNone/>
              <a:defRPr sz="28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79" name="Google Shape;179;p44"/>
          <p:cNvSpPr txBox="1"/>
          <p:nvPr>
            <p:ph idx="1" type="body"/>
          </p:nvPr>
        </p:nvSpPr>
        <p:spPr>
          <a:xfrm>
            <a:off x="273600" y="1026528"/>
            <a:ext cx="8520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Light"/>
              <a:buNone/>
              <a:defRPr sz="2800">
                <a:solidFill>
                  <a:schemeClr val="dk1"/>
                </a:solidFill>
                <a:latin typeface="Outfit ExtraLight"/>
                <a:ea typeface="Outfit ExtraLight"/>
                <a:cs typeface="Outfit ExtraLight"/>
                <a:sym typeface="Outfit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pic>
        <p:nvPicPr>
          <p:cNvPr id="7" name="Google Shape;7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88300" y="5349280"/>
            <a:ext cx="1165208" cy="10716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idx="1" type="body"/>
          </p:nvPr>
        </p:nvSpPr>
        <p:spPr>
          <a:xfrm>
            <a:off x="273600" y="1026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3175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3175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3175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3175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3175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3175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3175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Outfit Light"/>
              <a:buChar char="●"/>
              <a:defRPr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 Light"/>
              <a:buNone/>
              <a:defRPr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20" name="Google Shape;120;p29"/>
          <p:cNvSpPr txBox="1"/>
          <p:nvPr>
            <p:ph idx="1" type="body"/>
          </p:nvPr>
        </p:nvSpPr>
        <p:spPr>
          <a:xfrm>
            <a:off x="311700" y="1026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Relationship Id="rId11" Type="http://schemas.openxmlformats.org/officeDocument/2006/relationships/image" Target="../media/image23.png"/><Relationship Id="rId10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5"/>
          <p:cNvSpPr txBox="1"/>
          <p:nvPr>
            <p:ph type="ctrTitle"/>
          </p:nvPr>
        </p:nvSpPr>
        <p:spPr>
          <a:xfrm>
            <a:off x="273075" y="3791667"/>
            <a:ext cx="8520600" cy="64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[placeholder] </a:t>
            </a:r>
            <a:r>
              <a:rPr lang="en"/>
              <a:t>x PartySlate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[month] </a:t>
            </a:r>
            <a:r>
              <a:rPr lang="en"/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Snapshot</a:t>
            </a:r>
            <a:endParaRPr/>
          </a:p>
        </p:txBody>
      </p:sp>
      <p:sp>
        <p:nvSpPr>
          <p:cNvPr id="190" name="Google Shape;190;p46"/>
          <p:cNvSpPr txBox="1"/>
          <p:nvPr>
            <p:ph idx="1" type="body"/>
          </p:nvPr>
        </p:nvSpPr>
        <p:spPr>
          <a:xfrm>
            <a:off x="273600" y="8741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Here are advantages of a partnership with PartySlate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Higher-value event demand</a:t>
            </a:r>
            <a:r>
              <a:rPr lang="en"/>
              <a:t> from consumers actively planning weddings, corporate, and large-scale social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Sales acceleration</a:t>
            </a:r>
            <a:r>
              <a:rPr lang="en"/>
              <a:t> with Photo Hub tools that help prospects visualize and decide faster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Measurable performance tracking</a:t>
            </a:r>
            <a:r>
              <a:rPr lang="en"/>
              <a:t> across views, inquiries, and conversion (with Tripleseat integration)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of the Partnership</a:t>
            </a:r>
            <a:endParaRPr/>
          </a:p>
        </p:txBody>
      </p:sp>
      <p:sp>
        <p:nvSpPr>
          <p:cNvPr id="196" name="Google Shape;196;p47"/>
          <p:cNvSpPr txBox="1"/>
          <p:nvPr>
            <p:ph idx="1" type="body"/>
          </p:nvPr>
        </p:nvSpPr>
        <p:spPr>
          <a:xfrm>
            <a:off x="273600" y="8741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This partnership is designed to:</a:t>
            </a:r>
            <a:endParaRPr sz="18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Increase high-value event inquiries</a:t>
            </a:r>
            <a:r>
              <a:rPr lang="en"/>
              <a:t> aligned with your ideal event mix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Improve conversion</a:t>
            </a:r>
            <a:r>
              <a:rPr lang="en"/>
              <a:t> by supporting tours, follow-ups, and proposals with the right visuals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Reduce sales effort per booking</a:t>
            </a:r>
            <a:r>
              <a:rPr lang="en"/>
              <a:t> by speeding up responses and client decision-making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Expand brand reach</a:t>
            </a:r>
            <a:r>
              <a:rPr lang="en"/>
              <a:t> through trusted partner and planner networks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8"/>
          <p:cNvSpPr txBox="1"/>
          <p:nvPr>
            <p:ph type="title"/>
          </p:nvPr>
        </p:nvSpPr>
        <p:spPr>
          <a:xfrm>
            <a:off x="235500" y="240472"/>
            <a:ext cx="4138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PartySlate</a:t>
            </a:r>
            <a:endParaRPr/>
          </a:p>
        </p:txBody>
      </p:sp>
      <p:sp>
        <p:nvSpPr>
          <p:cNvPr id="202" name="Google Shape;202;p48"/>
          <p:cNvSpPr txBox="1"/>
          <p:nvPr>
            <p:ph idx="1" type="body"/>
          </p:nvPr>
        </p:nvSpPr>
        <p:spPr>
          <a:xfrm>
            <a:off x="273600" y="950328"/>
            <a:ext cx="4138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PartySlate supports revenue across the full client journey: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Profile &amp; Directory exposure</a:t>
            </a:r>
            <a:r>
              <a:rPr lang="en"/>
              <a:t>: High-intent search visibility that drives demand and higher-value inquiries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>
                <a:latin typeface="Outfit"/>
                <a:ea typeface="Outfit"/>
                <a:cs typeface="Outfit"/>
                <a:sym typeface="Outfit"/>
              </a:rPr>
              <a:t>Photo Hub sales enablement</a:t>
            </a:r>
            <a:r>
              <a:rPr lang="en"/>
              <a:t>: Store, find, and share event visuals to shorten the sales cycle and increase conversion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9"/>
          <p:cNvSpPr txBox="1"/>
          <p:nvPr>
            <p:ph type="title"/>
          </p:nvPr>
        </p:nvSpPr>
        <p:spPr>
          <a:xfrm>
            <a:off x="311700" y="2404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Outfit ExtraLight"/>
                <a:ea typeface="Outfit ExtraLight"/>
                <a:cs typeface="Outfit ExtraLight"/>
                <a:sym typeface="Outfit ExtraLight"/>
              </a:rPr>
              <a:t>PartySlate attracts hosts planning all types of events  </a:t>
            </a:r>
            <a:endParaRPr>
              <a:latin typeface="Outfit ExtraLight"/>
              <a:ea typeface="Outfit ExtraLight"/>
              <a:cs typeface="Outfit ExtraLight"/>
              <a:sym typeface="Outfit ExtraLight"/>
            </a:endParaRPr>
          </a:p>
        </p:txBody>
      </p:sp>
      <p:sp>
        <p:nvSpPr>
          <p:cNvPr id="208" name="Google Shape;208;p49"/>
          <p:cNvSpPr txBox="1"/>
          <p:nvPr/>
        </p:nvSpPr>
        <p:spPr>
          <a:xfrm>
            <a:off x="398394" y="1360075"/>
            <a:ext cx="9780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PartySlate.com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209" name="Google Shape;209;p49"/>
          <p:cNvCxnSpPr/>
          <p:nvPr/>
        </p:nvCxnSpPr>
        <p:spPr>
          <a:xfrm>
            <a:off x="322200" y="2154317"/>
            <a:ext cx="4536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49"/>
          <p:cNvSpPr txBox="1"/>
          <p:nvPr/>
        </p:nvSpPr>
        <p:spPr>
          <a:xfrm>
            <a:off x="1765625" y="1360075"/>
            <a:ext cx="1405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4.9 million</a:t>
            </a:r>
            <a:endParaRPr b="1" sz="16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Visitors last 12 months</a:t>
            </a:r>
            <a:endParaRPr sz="9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11" name="Google Shape;211;p49"/>
          <p:cNvSpPr txBox="1"/>
          <p:nvPr/>
        </p:nvSpPr>
        <p:spPr>
          <a:xfrm>
            <a:off x="398394" y="2317625"/>
            <a:ext cx="9780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Social Media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12" name="Google Shape;212;p49"/>
          <p:cNvSpPr txBox="1"/>
          <p:nvPr/>
        </p:nvSpPr>
        <p:spPr>
          <a:xfrm>
            <a:off x="3534747" y="2317625"/>
            <a:ext cx="13236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8.2 M </a:t>
            </a:r>
            <a:br>
              <a:rPr lang="en" sz="2400">
                <a:latin typeface="Outfit Light"/>
                <a:ea typeface="Outfit Light"/>
                <a:cs typeface="Outfit Light"/>
                <a:sym typeface="Outfit Light"/>
              </a:rPr>
            </a:b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Monthly Instagram impressions</a:t>
            </a:r>
            <a:endParaRPr sz="9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213" name="Google Shape;213;p49"/>
          <p:cNvCxnSpPr/>
          <p:nvPr/>
        </p:nvCxnSpPr>
        <p:spPr>
          <a:xfrm>
            <a:off x="322200" y="3100108"/>
            <a:ext cx="4536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49"/>
          <p:cNvSpPr txBox="1"/>
          <p:nvPr/>
        </p:nvSpPr>
        <p:spPr>
          <a:xfrm>
            <a:off x="398394" y="3242275"/>
            <a:ext cx="9780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Email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15" name="Google Shape;215;p49"/>
          <p:cNvSpPr txBox="1"/>
          <p:nvPr/>
        </p:nvSpPr>
        <p:spPr>
          <a:xfrm>
            <a:off x="1765625" y="3242275"/>
            <a:ext cx="1515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150,000+</a:t>
            </a:r>
            <a:br>
              <a:rPr lang="en" sz="2000">
                <a:latin typeface="Outfit Light"/>
                <a:ea typeface="Outfit Light"/>
                <a:cs typeface="Outfit Light"/>
                <a:sym typeface="Outfit Light"/>
              </a:rPr>
            </a:b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Email subscriber</a:t>
            </a: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s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216" name="Google Shape;216;p49"/>
          <p:cNvCxnSpPr/>
          <p:nvPr/>
        </p:nvCxnSpPr>
        <p:spPr>
          <a:xfrm>
            <a:off x="322200" y="4045900"/>
            <a:ext cx="4536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49"/>
          <p:cNvSpPr txBox="1"/>
          <p:nvPr/>
        </p:nvSpPr>
        <p:spPr>
          <a:xfrm>
            <a:off x="398394" y="4182325"/>
            <a:ext cx="10380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utfit Light"/>
                <a:ea typeface="Outfit Light"/>
                <a:cs typeface="Outfit Light"/>
                <a:sym typeface="Outfit Light"/>
              </a:rPr>
              <a:t>Events  </a:t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18" name="Google Shape;218;p49"/>
          <p:cNvSpPr txBox="1"/>
          <p:nvPr/>
        </p:nvSpPr>
        <p:spPr>
          <a:xfrm>
            <a:off x="1765625" y="4182325"/>
            <a:ext cx="13236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10</a:t>
            </a:r>
            <a:endParaRPr b="1" sz="16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Large scale, high profile </a:t>
            </a:r>
            <a:br>
              <a:rPr lang="en" sz="900">
                <a:latin typeface="Outfit Light"/>
                <a:ea typeface="Outfit Light"/>
                <a:cs typeface="Outfit Light"/>
                <a:sym typeface="Outfit Light"/>
              </a:rPr>
            </a:b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PartySlate Summits/ year</a:t>
            </a:r>
            <a:endParaRPr sz="9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3534750" y="4182325"/>
            <a:ext cx="11910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10+</a:t>
            </a:r>
            <a:br>
              <a:rPr lang="en" sz="2000">
                <a:latin typeface="Outfit Light"/>
                <a:ea typeface="Outfit Light"/>
                <a:cs typeface="Outfit Light"/>
                <a:sym typeface="Outfit Light"/>
              </a:rPr>
            </a:b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Partnership events/ year</a:t>
            </a:r>
            <a:endParaRPr sz="9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766728" y="2317625"/>
            <a:ext cx="14055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400,000</a:t>
            </a:r>
            <a:br>
              <a:rPr lang="en" sz="2400">
                <a:latin typeface="Outfit Light"/>
                <a:ea typeface="Outfit Light"/>
                <a:cs typeface="Outfit Light"/>
                <a:sym typeface="Outfit Light"/>
              </a:rPr>
            </a:b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Instagram followers</a:t>
            </a:r>
            <a:endParaRPr sz="9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pic>
        <p:nvPicPr>
          <p:cNvPr id="221" name="Google Shape;22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2051" y="1706750"/>
            <a:ext cx="3274924" cy="277312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9"/>
          <p:cNvSpPr txBox="1"/>
          <p:nvPr>
            <p:ph type="title"/>
          </p:nvPr>
        </p:nvSpPr>
        <p:spPr>
          <a:xfrm>
            <a:off x="5932125" y="1237075"/>
            <a:ext cx="2662500" cy="2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utfit ExtraLight"/>
                <a:ea typeface="Outfit ExtraLight"/>
                <a:cs typeface="Outfit ExtraLight"/>
                <a:sym typeface="Outfit ExtraLight"/>
              </a:rPr>
              <a:t>Inquiry breakout </a:t>
            </a:r>
            <a:endParaRPr sz="1500">
              <a:latin typeface="Outfit ExtraLight"/>
              <a:ea typeface="Outfit ExtraLight"/>
              <a:cs typeface="Outfit ExtraLight"/>
              <a:sym typeface="Outfit Extra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utfit ExtraLight"/>
                <a:ea typeface="Outfit ExtraLight"/>
                <a:cs typeface="Outfit ExtraLight"/>
                <a:sym typeface="Outfit ExtraLight"/>
              </a:rPr>
              <a:t>last 12 months</a:t>
            </a:r>
            <a:endParaRPr i="1" sz="1500">
              <a:highlight>
                <a:srgbClr val="FFFF00"/>
              </a:highlight>
              <a:latin typeface="Outfit ExtraLight"/>
              <a:ea typeface="Outfit ExtraLight"/>
              <a:cs typeface="Outfit ExtraLight"/>
              <a:sym typeface="Outfit ExtraLight"/>
            </a:endParaRPr>
          </a:p>
        </p:txBody>
      </p:sp>
      <p:sp>
        <p:nvSpPr>
          <p:cNvPr id="223" name="Google Shape;223;p49"/>
          <p:cNvSpPr txBox="1"/>
          <p:nvPr/>
        </p:nvSpPr>
        <p:spPr>
          <a:xfrm>
            <a:off x="3560347" y="1360075"/>
            <a:ext cx="13236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Outfit"/>
                <a:ea typeface="Outfit"/>
                <a:cs typeface="Outfit"/>
                <a:sym typeface="Outfit"/>
              </a:rPr>
              <a:t>70%</a:t>
            </a:r>
            <a:endParaRPr b="1" sz="16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>
                <a:latin typeface="Outfit Light"/>
                <a:ea typeface="Outfit Light"/>
                <a:cs typeface="Outfit Light"/>
                <a:sym typeface="Outfit Light"/>
              </a:rPr>
              <a:t>Of our traffic is sourced from a high-intent Google searches </a:t>
            </a:r>
            <a:endParaRPr sz="900"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224" name="Google Shape;224;p49"/>
          <p:cNvCxnSpPr/>
          <p:nvPr/>
        </p:nvCxnSpPr>
        <p:spPr>
          <a:xfrm>
            <a:off x="398400" y="1208525"/>
            <a:ext cx="45360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0"/>
          <p:cNvSpPr/>
          <p:nvPr/>
        </p:nvSpPr>
        <p:spPr>
          <a:xfrm>
            <a:off x="365760" y="5262880"/>
            <a:ext cx="182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PARTY</a:t>
            </a:r>
            <a:r>
              <a:rPr b="0" i="1" lang="en" sz="12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SLATE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1"/>
          <p:cNvSpPr txBox="1"/>
          <p:nvPr>
            <p:ph type="title"/>
          </p:nvPr>
        </p:nvSpPr>
        <p:spPr>
          <a:xfrm>
            <a:off x="311700" y="316672"/>
            <a:ext cx="8520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PartySlate Customer Success and Support</a:t>
            </a:r>
            <a:endParaRPr sz="2600"/>
          </a:p>
        </p:txBody>
      </p:sp>
      <p:sp>
        <p:nvSpPr>
          <p:cNvPr id="236" name="Google Shape;236;p51"/>
          <p:cNvSpPr txBox="1"/>
          <p:nvPr>
            <p:ph idx="1" type="body"/>
          </p:nvPr>
        </p:nvSpPr>
        <p:spPr>
          <a:xfrm>
            <a:off x="311700" y="772555"/>
            <a:ext cx="8520600" cy="3816600"/>
          </a:xfrm>
          <a:prstGeom prst="rect">
            <a:avLst/>
          </a:prstGeom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utfit ExtraLight"/>
                <a:ea typeface="Outfit ExtraLight"/>
                <a:cs typeface="Outfit ExtraLight"/>
                <a:sym typeface="Outfit ExtraLight"/>
              </a:rPr>
              <a:t>We provide hands-on support to help you drive visibility, inquiries, and revenue.</a:t>
            </a:r>
            <a:endParaRPr sz="1800">
              <a:latin typeface="Outfit ExtraLight"/>
              <a:ea typeface="Outfit ExtraLight"/>
              <a:cs typeface="Outfit ExtraLight"/>
              <a:sym typeface="Outfit Extra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utfit"/>
                <a:ea typeface="Outfit"/>
                <a:cs typeface="Outfit"/>
                <a:sym typeface="Outfit"/>
              </a:rPr>
              <a:t>Onboarding</a:t>
            </a:r>
            <a:endParaRPr b="1" sz="14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Outfit Light"/>
                <a:ea typeface="Outfit Light"/>
                <a:cs typeface="Outfit Light"/>
                <a:sym typeface="Outfit Light"/>
              </a:rPr>
              <a:t>Our Operations team partners with your sales and marketing teams to optimize your profile for high-value inquiries.</a:t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utfit"/>
                <a:ea typeface="Outfit"/>
                <a:cs typeface="Outfit"/>
                <a:sym typeface="Outfit"/>
              </a:rPr>
              <a:t>Account Reviews</a:t>
            </a:r>
            <a:endParaRPr b="1" sz="14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Outfit Light"/>
                <a:ea typeface="Outfit Light"/>
                <a:cs typeface="Outfit Light"/>
                <a:sym typeface="Outfit Light"/>
              </a:rPr>
              <a:t>A dedicated Customer Success Manager meets with you 3× annually to review performance, inquiry quality, and optimization opportunities.</a:t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Outfit"/>
                <a:ea typeface="Outfit"/>
                <a:cs typeface="Outfit"/>
                <a:sym typeface="Outfit"/>
              </a:rPr>
              <a:t>Analytics</a:t>
            </a:r>
            <a:endParaRPr b="1" sz="1400"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Outfit Light"/>
                <a:ea typeface="Outfit Light"/>
                <a:cs typeface="Outfit Light"/>
                <a:sym typeface="Outfit Light"/>
              </a:rPr>
              <a:t>A centralized dashboard tracks profile views, inquiries, calls, and clicks so you can measure impact and make informed decisions.</a:t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2"/>
          <p:cNvSpPr txBox="1"/>
          <p:nvPr>
            <p:ph type="title"/>
          </p:nvPr>
        </p:nvSpPr>
        <p:spPr>
          <a:xfrm>
            <a:off x="235500" y="240475"/>
            <a:ext cx="35175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Seamless Integrations with Your Existing Tools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2"/>
          <p:cNvSpPr txBox="1"/>
          <p:nvPr>
            <p:ph idx="1" type="body"/>
          </p:nvPr>
        </p:nvSpPr>
        <p:spPr>
          <a:xfrm>
            <a:off x="267882" y="1255127"/>
            <a:ext cx="35175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PartySlate integrates with your existing tools to streamline lead management, improve follow-ups, and accelerate the sales cycle.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CRM reporting provides visibility into inquiry details and close rates.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With Canva you can create and publish proposals and marketing visuals faster using approved event imagery without hunting for files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2"/>
          <p:cNvSpPr/>
          <p:nvPr/>
        </p:nvSpPr>
        <p:spPr>
          <a:xfrm>
            <a:off x="4008000" y="0"/>
            <a:ext cx="5136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52" title="integra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550" y="434050"/>
            <a:ext cx="4846899" cy="484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3"/>
          <p:cNvSpPr txBox="1"/>
          <p:nvPr>
            <p:ph type="title"/>
          </p:nvPr>
        </p:nvSpPr>
        <p:spPr>
          <a:xfrm>
            <a:off x="311700" y="240475"/>
            <a:ext cx="44499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Outfit ExtraLight"/>
                <a:ea typeface="Outfit ExtraLight"/>
                <a:cs typeface="Outfit ExtraLight"/>
                <a:sym typeface="Outfit ExtraLight"/>
              </a:rPr>
              <a:t>Extra Value for Members</a:t>
            </a:r>
            <a:br>
              <a:rPr lang="en" sz="2600">
                <a:latin typeface="Outfit ExtraLight"/>
                <a:ea typeface="Outfit ExtraLight"/>
                <a:cs typeface="Outfit ExtraLight"/>
                <a:sym typeface="Outfit ExtraLight"/>
              </a:rPr>
            </a:br>
            <a:r>
              <a:rPr lang="en" sz="2600">
                <a:latin typeface="Outfit ExtraLight"/>
                <a:ea typeface="Outfit ExtraLight"/>
                <a:cs typeface="Outfit ExtraLight"/>
                <a:sym typeface="Outfit ExtraLight"/>
              </a:rPr>
              <a:t>Industry networking events  </a:t>
            </a:r>
            <a:endParaRPr sz="2600">
              <a:latin typeface="Outfit ExtraLight"/>
              <a:ea typeface="Outfit ExtraLight"/>
              <a:cs typeface="Outfit ExtraLight"/>
              <a:sym typeface="Outfit ExtraLight"/>
            </a:endParaRPr>
          </a:p>
        </p:txBody>
      </p:sp>
      <p:sp>
        <p:nvSpPr>
          <p:cNvPr id="250" name="Google Shape;250;p53"/>
          <p:cNvSpPr txBox="1"/>
          <p:nvPr>
            <p:ph idx="1" type="body"/>
          </p:nvPr>
        </p:nvSpPr>
        <p:spPr>
          <a:xfrm>
            <a:off x="311700" y="1285305"/>
            <a:ext cx="4194600" cy="3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Outfit Light"/>
                <a:ea typeface="Outfit Light"/>
                <a:cs typeface="Outfit Light"/>
                <a:sym typeface="Outfit Light"/>
              </a:rPr>
              <a:t>Exclusive events designed to connect you with high-intent planners and partners.</a:t>
            </a:r>
            <a:endParaRPr sz="17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 Light"/>
              <a:buChar char="●"/>
            </a:pPr>
            <a:r>
              <a:rPr lang="en" sz="1400">
                <a:latin typeface="Outfit Light"/>
                <a:ea typeface="Outfit Light"/>
                <a:cs typeface="Outfit Light"/>
                <a:sym typeface="Outfit Light"/>
              </a:rPr>
              <a:t>12 member events annually in key markets</a:t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Outfit Light"/>
              <a:buChar char="●"/>
            </a:pPr>
            <a:r>
              <a:rPr lang="en" sz="1400">
                <a:latin typeface="Outfit Light"/>
                <a:ea typeface="Outfit Light"/>
                <a:cs typeface="Outfit Light"/>
                <a:sym typeface="Outfit Light"/>
              </a:rPr>
              <a:t>Direct access to planners and partners who influence bookings</a:t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Outfit Light"/>
              <a:buChar char="●"/>
            </a:pPr>
            <a:r>
              <a:rPr lang="en" sz="1400">
                <a:latin typeface="Outfit Light"/>
                <a:ea typeface="Outfit Light"/>
                <a:cs typeface="Outfit Light"/>
                <a:sym typeface="Outfit Light"/>
              </a:rPr>
              <a:t>Brand-building visibility in premium industry settings</a:t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4"/>
          <p:cNvSpPr/>
          <p:nvPr/>
        </p:nvSpPr>
        <p:spPr>
          <a:xfrm>
            <a:off x="275532" y="5258893"/>
            <a:ext cx="1454700" cy="31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54"/>
          <p:cNvSpPr/>
          <p:nvPr/>
        </p:nvSpPr>
        <p:spPr>
          <a:xfrm>
            <a:off x="6552825" y="94607"/>
            <a:ext cx="2468700" cy="5566800"/>
          </a:xfrm>
          <a:prstGeom prst="roundRect">
            <a:avLst>
              <a:gd fmla="val 5226" name="adj"/>
            </a:avLst>
          </a:prstGeom>
          <a:solidFill>
            <a:schemeClr val="lt1"/>
          </a:solidFill>
          <a:ln cap="flat" cmpd="sng" w="91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0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Platinum</a:t>
            </a:r>
            <a:endParaRPr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B3446C"/>
                </a:solidFill>
                <a:latin typeface="Georgia"/>
                <a:ea typeface="Georgia"/>
                <a:cs typeface="Georgia"/>
                <a:sym typeface="Georgia"/>
              </a:rPr>
              <a:t>Drive revenue</a:t>
            </a:r>
            <a:endParaRPr b="1" sz="1000">
              <a:solidFill>
                <a:srgbClr val="B3446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Leverage every tool to drive revenue, with full-service support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$1,395</a:t>
            </a:r>
            <a:endParaRPr b="1"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per month</a:t>
            </a:r>
            <a:endParaRPr sz="10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Unlimited photo storage with AI-powered photo search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Canva Integration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Complimentary Photo Hub setup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Public Profile with all features unlocked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Top tier directory boost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Photo posting service  (unlimited albums)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Tripleseat integration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Custom concierge onboarding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Dedicated Customer Success Manager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Advanced analytics &amp; performance reviews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0053" lvl="0" marL="55027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0053" lvl="0" marL="55027" rtl="0" algn="l">
              <a:lnSpc>
                <a:spcPct val="115000"/>
              </a:lnSpc>
              <a:spcBef>
                <a:spcPts val="770"/>
              </a:spcBef>
              <a:spcAft>
                <a:spcPts val="770"/>
              </a:spcAft>
              <a:buNone/>
            </a:pPr>
            <a:r>
              <a:t/>
            </a:r>
            <a:endParaRPr sz="1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7" name="Google Shape;257;p54"/>
          <p:cNvSpPr/>
          <p:nvPr/>
        </p:nvSpPr>
        <p:spPr>
          <a:xfrm>
            <a:off x="3938611" y="94607"/>
            <a:ext cx="2468700" cy="5566800"/>
          </a:xfrm>
          <a:prstGeom prst="roundRect">
            <a:avLst>
              <a:gd fmla="val 5226" name="adj"/>
            </a:avLst>
          </a:prstGeom>
          <a:solidFill>
            <a:schemeClr val="lt1"/>
          </a:solidFill>
          <a:ln cap="flat" cmpd="sng" w="91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0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Premier</a:t>
            </a:r>
            <a:endParaRPr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3446C"/>
                </a:solidFill>
                <a:latin typeface="Georgia"/>
                <a:ea typeface="Georgia"/>
                <a:cs typeface="Georgia"/>
                <a:sym typeface="Georgia"/>
              </a:rPr>
              <a:t>Book more events</a:t>
            </a:r>
            <a:endParaRPr b="1" sz="1000">
              <a:solidFill>
                <a:srgbClr val="B3446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Added exposure and integrations  to convert more inquiries.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$995</a:t>
            </a:r>
            <a:endParaRPr b="1"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per month</a:t>
            </a:r>
            <a:endParaRPr sz="10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Unlimited photo storage with AI-powered photo search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Canva Integration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571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				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Public Profile with all features unlocked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Tier 2 directory boost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Photo posting service (8 event albums)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Tripleseat integration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Complete onboarding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Support Access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0053" lvl="0" marL="55027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0053" lvl="0" marL="55027" rtl="0" algn="l">
              <a:lnSpc>
                <a:spcPct val="115000"/>
              </a:lnSpc>
              <a:spcBef>
                <a:spcPts val="770"/>
              </a:spcBef>
              <a:spcAft>
                <a:spcPts val="770"/>
              </a:spcAft>
              <a:buNone/>
            </a:pPr>
            <a:r>
              <a:t/>
            </a:r>
            <a:endParaRPr sz="1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8" name="Google Shape;258;p54"/>
          <p:cNvSpPr/>
          <p:nvPr/>
        </p:nvSpPr>
        <p:spPr>
          <a:xfrm>
            <a:off x="1324397" y="94607"/>
            <a:ext cx="2468700" cy="5566800"/>
          </a:xfrm>
          <a:prstGeom prst="roundRect">
            <a:avLst>
              <a:gd fmla="val 5226" name="adj"/>
            </a:avLst>
          </a:prstGeom>
          <a:solidFill>
            <a:schemeClr val="lt1"/>
          </a:solidFill>
          <a:ln cap="flat" cmpd="sng" w="91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0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Portfolio</a:t>
            </a:r>
            <a:endParaRPr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3446C"/>
                </a:solidFill>
                <a:latin typeface="Georgia"/>
                <a:ea typeface="Georgia"/>
                <a:cs typeface="Georgia"/>
                <a:sym typeface="Georgia"/>
              </a:rPr>
              <a:t>Close deals faster</a:t>
            </a:r>
            <a:endParaRPr b="1" sz="1000">
              <a:solidFill>
                <a:srgbClr val="B3446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Sales-ready photos tools to move inquiries forward.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$795</a:t>
            </a:r>
            <a:endParaRPr b="1"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per month</a:t>
            </a:r>
            <a:endParaRPr sz="10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Unlimited photo storage with AI-powered photo search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Canva Integration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						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Public Profile with all features unlocked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Tier 3 directory boost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	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				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Complete onboarding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Support Access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0053" lvl="0" marL="55027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0053" lvl="0" marL="55027" rtl="0" algn="l">
              <a:lnSpc>
                <a:spcPct val="115000"/>
              </a:lnSpc>
              <a:spcBef>
                <a:spcPts val="770"/>
              </a:spcBef>
              <a:spcAft>
                <a:spcPts val="770"/>
              </a:spcAft>
              <a:buNone/>
            </a:pPr>
            <a:r>
              <a:t/>
            </a:r>
            <a:endParaRPr sz="1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59" name="Google Shape;259;p54" title="Screenshot 2026-01-13 at 5.48.15 PM.png"/>
          <p:cNvPicPr preferRelativeResize="0"/>
          <p:nvPr/>
        </p:nvPicPr>
        <p:blipFill rotWithShape="1">
          <a:blip r:embed="rId3">
            <a:alphaModFix/>
          </a:blip>
          <a:srcRect b="16509" l="14283" r="392" t="16516"/>
          <a:stretch/>
        </p:blipFill>
        <p:spPr>
          <a:xfrm>
            <a:off x="702326" y="2745691"/>
            <a:ext cx="505200" cy="490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459" y="1775064"/>
            <a:ext cx="290920" cy="290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54" title="customer-servic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3076" y="3701457"/>
            <a:ext cx="290925" cy="290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2" name="Google Shape;262;p54"/>
          <p:cNvCxnSpPr/>
          <p:nvPr/>
        </p:nvCxnSpPr>
        <p:spPr>
          <a:xfrm flipH="1" rot="10800000">
            <a:off x="1427189" y="1686389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54"/>
          <p:cNvCxnSpPr/>
          <p:nvPr/>
        </p:nvCxnSpPr>
        <p:spPr>
          <a:xfrm flipH="1" rot="10800000">
            <a:off x="1427189" y="2739426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54"/>
          <p:cNvCxnSpPr/>
          <p:nvPr/>
        </p:nvCxnSpPr>
        <p:spPr>
          <a:xfrm flipH="1" rot="10800000">
            <a:off x="1427189" y="3516383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54"/>
          <p:cNvCxnSpPr/>
          <p:nvPr/>
        </p:nvCxnSpPr>
        <p:spPr>
          <a:xfrm flipH="1" rot="10800000">
            <a:off x="4041427" y="1686389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54"/>
          <p:cNvCxnSpPr/>
          <p:nvPr/>
        </p:nvCxnSpPr>
        <p:spPr>
          <a:xfrm flipH="1" rot="10800000">
            <a:off x="4041427" y="2739426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54"/>
          <p:cNvCxnSpPr/>
          <p:nvPr/>
        </p:nvCxnSpPr>
        <p:spPr>
          <a:xfrm flipH="1" rot="10800000">
            <a:off x="4041427" y="3516383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54"/>
          <p:cNvCxnSpPr/>
          <p:nvPr/>
        </p:nvCxnSpPr>
        <p:spPr>
          <a:xfrm flipH="1" rot="10800000">
            <a:off x="6655648" y="1686389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54"/>
          <p:cNvCxnSpPr/>
          <p:nvPr/>
        </p:nvCxnSpPr>
        <p:spPr>
          <a:xfrm flipH="1" rot="10800000">
            <a:off x="6655648" y="2739426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54"/>
          <p:cNvCxnSpPr/>
          <p:nvPr/>
        </p:nvCxnSpPr>
        <p:spPr>
          <a:xfrm flipH="1" rot="10800000">
            <a:off x="6655648" y="3516383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54"/>
          <p:cNvCxnSpPr/>
          <p:nvPr/>
        </p:nvCxnSpPr>
        <p:spPr>
          <a:xfrm flipH="1" rot="10800000">
            <a:off x="780949" y="1686388"/>
            <a:ext cx="3288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54"/>
          <p:cNvCxnSpPr/>
          <p:nvPr/>
        </p:nvCxnSpPr>
        <p:spPr>
          <a:xfrm flipH="1" rot="10800000">
            <a:off x="780949" y="2739425"/>
            <a:ext cx="3288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54"/>
          <p:cNvCxnSpPr/>
          <p:nvPr/>
        </p:nvCxnSpPr>
        <p:spPr>
          <a:xfrm flipH="1" rot="10800000">
            <a:off x="784149" y="3596459"/>
            <a:ext cx="3288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54"/>
          <p:cNvSpPr/>
          <p:nvPr/>
        </p:nvSpPr>
        <p:spPr>
          <a:xfrm>
            <a:off x="4626445" y="52944"/>
            <a:ext cx="1093200" cy="141300"/>
          </a:xfrm>
          <a:prstGeom prst="roundRect">
            <a:avLst>
              <a:gd fmla="val 50000" name="adj"/>
            </a:avLst>
          </a:prstGeom>
          <a:solidFill>
            <a:srgbClr val="B344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POPULAR</a:t>
            </a:r>
            <a:endParaRPr sz="600">
              <a:solidFill>
                <a:schemeClr val="lt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275" name="Google Shape;275;p54"/>
          <p:cNvSpPr/>
          <p:nvPr/>
        </p:nvSpPr>
        <p:spPr>
          <a:xfrm>
            <a:off x="0" y="-13750"/>
            <a:ext cx="572700" cy="5728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EEEEE"/>
              </a:solidFill>
              <a:highlight>
                <a:schemeClr val="lt2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54"/>
          <p:cNvSpPr txBox="1"/>
          <p:nvPr>
            <p:ph type="title"/>
          </p:nvPr>
        </p:nvSpPr>
        <p:spPr>
          <a:xfrm rot="-5400000">
            <a:off x="-1321803" y="3764122"/>
            <a:ext cx="3144600" cy="365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Outfit ExtraLight"/>
                <a:ea typeface="Outfit ExtraLight"/>
                <a:cs typeface="Outfit ExtraLight"/>
                <a:sym typeface="Outfit ExtraLight"/>
              </a:rPr>
              <a:t>Standard Metros</a:t>
            </a:r>
            <a:endParaRPr sz="2600">
              <a:solidFill>
                <a:schemeClr val="lt1"/>
              </a:solidFill>
              <a:latin typeface="Outfit ExtraLight"/>
              <a:ea typeface="Outfit ExtraLight"/>
              <a:cs typeface="Outfit ExtraLight"/>
              <a:sym typeface="Outfit Extra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5"/>
          <p:cNvSpPr/>
          <p:nvPr/>
        </p:nvSpPr>
        <p:spPr>
          <a:xfrm>
            <a:off x="275532" y="5258893"/>
            <a:ext cx="1454700" cy="31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55"/>
          <p:cNvSpPr/>
          <p:nvPr/>
        </p:nvSpPr>
        <p:spPr>
          <a:xfrm>
            <a:off x="6552825" y="94607"/>
            <a:ext cx="2468700" cy="5566800"/>
          </a:xfrm>
          <a:prstGeom prst="roundRect">
            <a:avLst>
              <a:gd fmla="val 5226" name="adj"/>
            </a:avLst>
          </a:prstGeom>
          <a:solidFill>
            <a:schemeClr val="lt1"/>
          </a:solidFill>
          <a:ln cap="flat" cmpd="sng" w="91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0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Platinum</a:t>
            </a:r>
            <a:endParaRPr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B3446C"/>
                </a:solidFill>
                <a:latin typeface="Georgia"/>
                <a:ea typeface="Georgia"/>
                <a:cs typeface="Georgia"/>
                <a:sym typeface="Georgia"/>
              </a:rPr>
              <a:t>Drive revenue</a:t>
            </a:r>
            <a:endParaRPr b="1" sz="1000">
              <a:solidFill>
                <a:srgbClr val="B3446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Leverage every tool to drive revenue, with full-service support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$1,695</a:t>
            </a:r>
            <a:endParaRPr b="1"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per month</a:t>
            </a:r>
            <a:endParaRPr sz="10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Unlimited photo storage with AI-powered photo search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Canva Integration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Complimentary Photo Hub setup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Public Profile with all features unlocked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Top tier directory boost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Photo posting service  (unlimited albums)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Tripleseat integration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Custom concierge onboarding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Dedicated Customer Success Manager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Advanced analytics &amp; performance reviews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0053" lvl="0" marL="55027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0053" lvl="0" marL="55027" rtl="0" algn="l">
              <a:lnSpc>
                <a:spcPct val="115000"/>
              </a:lnSpc>
              <a:spcBef>
                <a:spcPts val="770"/>
              </a:spcBef>
              <a:spcAft>
                <a:spcPts val="770"/>
              </a:spcAft>
              <a:buNone/>
            </a:pPr>
            <a:r>
              <a:t/>
            </a:r>
            <a:endParaRPr sz="1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3" name="Google Shape;283;p55"/>
          <p:cNvSpPr/>
          <p:nvPr/>
        </p:nvSpPr>
        <p:spPr>
          <a:xfrm>
            <a:off x="3938611" y="94607"/>
            <a:ext cx="2468700" cy="5566800"/>
          </a:xfrm>
          <a:prstGeom prst="roundRect">
            <a:avLst>
              <a:gd fmla="val 5226" name="adj"/>
            </a:avLst>
          </a:prstGeom>
          <a:solidFill>
            <a:schemeClr val="lt1"/>
          </a:solidFill>
          <a:ln cap="flat" cmpd="sng" w="91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0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Premier</a:t>
            </a:r>
            <a:endParaRPr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3446C"/>
                </a:solidFill>
                <a:latin typeface="Georgia"/>
                <a:ea typeface="Georgia"/>
                <a:cs typeface="Georgia"/>
                <a:sym typeface="Georgia"/>
              </a:rPr>
              <a:t>Book more events</a:t>
            </a:r>
            <a:endParaRPr b="1" sz="1000">
              <a:solidFill>
                <a:srgbClr val="B3446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Added exposure and integrations  to convert more inquiries.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$1,195</a:t>
            </a:r>
            <a:endParaRPr b="1"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per month</a:t>
            </a:r>
            <a:endParaRPr sz="10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Unlimited photo storage with AI-powered photo search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Canva Integration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571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				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Public Profile with all features unlocked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Tier 2 directory boost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Photo posting service (8 event albums)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Tripleseat integration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Complete onboarding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Support Access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0053" lvl="0" marL="55027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0053" lvl="0" marL="55027" rtl="0" algn="l">
              <a:lnSpc>
                <a:spcPct val="115000"/>
              </a:lnSpc>
              <a:spcBef>
                <a:spcPts val="770"/>
              </a:spcBef>
              <a:spcAft>
                <a:spcPts val="770"/>
              </a:spcAft>
              <a:buNone/>
            </a:pPr>
            <a:r>
              <a:t/>
            </a:r>
            <a:endParaRPr sz="1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4" name="Google Shape;284;p55"/>
          <p:cNvSpPr/>
          <p:nvPr/>
        </p:nvSpPr>
        <p:spPr>
          <a:xfrm>
            <a:off x="1324397" y="94607"/>
            <a:ext cx="2468700" cy="5566800"/>
          </a:xfrm>
          <a:prstGeom prst="roundRect">
            <a:avLst>
              <a:gd fmla="val 5226" name="adj"/>
            </a:avLst>
          </a:prstGeom>
          <a:solidFill>
            <a:schemeClr val="lt1"/>
          </a:solidFill>
          <a:ln cap="flat" cmpd="sng" w="91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0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Portfolio</a:t>
            </a:r>
            <a:endParaRPr b="1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3446C"/>
                </a:solidFill>
                <a:latin typeface="Georgia"/>
                <a:ea typeface="Georgia"/>
                <a:cs typeface="Georgia"/>
                <a:sym typeface="Georgia"/>
              </a:rPr>
              <a:t>Close deals faster</a:t>
            </a:r>
            <a:endParaRPr b="1" sz="1000">
              <a:solidFill>
                <a:srgbClr val="B3446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Sales-ready photos tools to move inquiries forward.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$895</a:t>
            </a:r>
            <a:endParaRPr b="1"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Georgia"/>
                <a:ea typeface="Georgia"/>
                <a:cs typeface="Georgia"/>
                <a:sym typeface="Georgia"/>
              </a:rPr>
              <a:t>per month</a:t>
            </a:r>
            <a:endParaRPr sz="1000">
              <a:solidFill>
                <a:srgbClr val="9E9E9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Unlimited photo storage with AI-powered photo search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Canva Integration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						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Public Profile with all features unlocked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Tier 3 directory boost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			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		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Complete onboarding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4300" lvl="0" marL="171450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✓ Support Access</a:t>
            </a:r>
            <a:endParaRPr sz="9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0053" lvl="0" marL="55027" rtl="0" algn="l">
              <a:lnSpc>
                <a:spcPct val="115000"/>
              </a:lnSpc>
              <a:spcBef>
                <a:spcPts val="77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110053" lvl="0" marL="55027" rtl="0" algn="l">
              <a:lnSpc>
                <a:spcPct val="115000"/>
              </a:lnSpc>
              <a:spcBef>
                <a:spcPts val="770"/>
              </a:spcBef>
              <a:spcAft>
                <a:spcPts val="770"/>
              </a:spcAft>
              <a:buNone/>
            </a:pPr>
            <a:r>
              <a:t/>
            </a:r>
            <a:endParaRPr sz="1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85" name="Google Shape;285;p55" title="Screenshot 2026-01-13 at 5.48.15 PM.png"/>
          <p:cNvPicPr preferRelativeResize="0"/>
          <p:nvPr/>
        </p:nvPicPr>
        <p:blipFill rotWithShape="1">
          <a:blip r:embed="rId3">
            <a:alphaModFix/>
          </a:blip>
          <a:srcRect b="16509" l="14283" r="392" t="16516"/>
          <a:stretch/>
        </p:blipFill>
        <p:spPr>
          <a:xfrm>
            <a:off x="695951" y="2864441"/>
            <a:ext cx="505200" cy="490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459" y="1775064"/>
            <a:ext cx="290920" cy="290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55" title="customer-servic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3089" y="3597682"/>
            <a:ext cx="290925" cy="290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8" name="Google Shape;288;p55"/>
          <p:cNvCxnSpPr/>
          <p:nvPr/>
        </p:nvCxnSpPr>
        <p:spPr>
          <a:xfrm flipH="1" rot="10800000">
            <a:off x="1427189" y="1686389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55"/>
          <p:cNvCxnSpPr/>
          <p:nvPr/>
        </p:nvCxnSpPr>
        <p:spPr>
          <a:xfrm flipH="1" rot="10800000">
            <a:off x="1427189" y="2739426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55"/>
          <p:cNvCxnSpPr/>
          <p:nvPr/>
        </p:nvCxnSpPr>
        <p:spPr>
          <a:xfrm flipH="1" rot="10800000">
            <a:off x="1427189" y="3472657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55"/>
          <p:cNvCxnSpPr/>
          <p:nvPr/>
        </p:nvCxnSpPr>
        <p:spPr>
          <a:xfrm flipH="1" rot="10800000">
            <a:off x="4041427" y="1686389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55"/>
          <p:cNvCxnSpPr/>
          <p:nvPr/>
        </p:nvCxnSpPr>
        <p:spPr>
          <a:xfrm flipH="1" rot="10800000">
            <a:off x="4041427" y="2739426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55"/>
          <p:cNvCxnSpPr/>
          <p:nvPr/>
        </p:nvCxnSpPr>
        <p:spPr>
          <a:xfrm flipH="1" rot="10800000">
            <a:off x="4056652" y="3472657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55"/>
          <p:cNvCxnSpPr/>
          <p:nvPr/>
        </p:nvCxnSpPr>
        <p:spPr>
          <a:xfrm flipH="1" rot="10800000">
            <a:off x="6655648" y="1686389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55"/>
          <p:cNvCxnSpPr/>
          <p:nvPr/>
        </p:nvCxnSpPr>
        <p:spPr>
          <a:xfrm flipH="1" rot="10800000">
            <a:off x="6655648" y="2739426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55"/>
          <p:cNvCxnSpPr/>
          <p:nvPr/>
        </p:nvCxnSpPr>
        <p:spPr>
          <a:xfrm flipH="1" rot="10800000">
            <a:off x="6552798" y="3472657"/>
            <a:ext cx="22326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55"/>
          <p:cNvCxnSpPr/>
          <p:nvPr/>
        </p:nvCxnSpPr>
        <p:spPr>
          <a:xfrm flipH="1" rot="10800000">
            <a:off x="780949" y="1686388"/>
            <a:ext cx="3288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55"/>
          <p:cNvCxnSpPr/>
          <p:nvPr/>
        </p:nvCxnSpPr>
        <p:spPr>
          <a:xfrm flipH="1" rot="10800000">
            <a:off x="780949" y="2739425"/>
            <a:ext cx="3288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55"/>
          <p:cNvCxnSpPr/>
          <p:nvPr/>
        </p:nvCxnSpPr>
        <p:spPr>
          <a:xfrm flipH="1" rot="10800000">
            <a:off x="784149" y="3472659"/>
            <a:ext cx="328800" cy="7200"/>
          </a:xfrm>
          <a:prstGeom prst="straightConnector1">
            <a:avLst/>
          </a:prstGeom>
          <a:noFill/>
          <a:ln cap="flat" cmpd="sng" w="917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55"/>
          <p:cNvSpPr/>
          <p:nvPr/>
        </p:nvSpPr>
        <p:spPr>
          <a:xfrm>
            <a:off x="4626445" y="52944"/>
            <a:ext cx="1093200" cy="141300"/>
          </a:xfrm>
          <a:prstGeom prst="roundRect">
            <a:avLst>
              <a:gd fmla="val 50000" name="adj"/>
            </a:avLst>
          </a:prstGeom>
          <a:solidFill>
            <a:srgbClr val="B3446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POPULAR</a:t>
            </a:r>
            <a:endParaRPr sz="600">
              <a:solidFill>
                <a:schemeClr val="lt1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301" name="Google Shape;301;p55"/>
          <p:cNvSpPr/>
          <p:nvPr/>
        </p:nvSpPr>
        <p:spPr>
          <a:xfrm>
            <a:off x="0" y="-13750"/>
            <a:ext cx="572700" cy="5728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EEEEE"/>
              </a:solidFill>
              <a:highlight>
                <a:schemeClr val="lt2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55"/>
          <p:cNvSpPr txBox="1"/>
          <p:nvPr>
            <p:ph type="title"/>
          </p:nvPr>
        </p:nvSpPr>
        <p:spPr>
          <a:xfrm rot="-5400000">
            <a:off x="-1321803" y="3764122"/>
            <a:ext cx="3144600" cy="3651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Outfit ExtraLight"/>
                <a:ea typeface="Outfit ExtraLight"/>
                <a:cs typeface="Outfit ExtraLight"/>
                <a:sym typeface="Outfit ExtraLight"/>
              </a:rPr>
              <a:t>Major Metros</a:t>
            </a:r>
            <a:endParaRPr sz="2600">
              <a:solidFill>
                <a:schemeClr val="lt1"/>
              </a:solidFill>
              <a:latin typeface="Outfit ExtraLight"/>
              <a:ea typeface="Outfit ExtraLight"/>
              <a:cs typeface="Outfit ExtraLight"/>
              <a:sym typeface="Outfit Extra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56" title="Screenshot 2026-05-20 at 1.36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71259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 txBox="1"/>
          <p:nvPr/>
        </p:nvSpPr>
        <p:spPr>
          <a:xfrm>
            <a:off x="287125" y="1093779"/>
            <a:ext cx="3595800" cy="38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utfit"/>
                <a:ea typeface="Outfit"/>
                <a:cs typeface="Outfit"/>
                <a:sym typeface="Outfit"/>
              </a:rPr>
              <a:t>Package Recommendation:</a:t>
            </a:r>
            <a:r>
              <a:rPr lang="en">
                <a:latin typeface="Outfit Light"/>
                <a:ea typeface="Outfit Light"/>
                <a:cs typeface="Outfit Light"/>
                <a:sym typeface="Outfit Light"/>
              </a:rPr>
              <a:t> Premier</a:t>
            </a:r>
            <a:endParaRPr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7"/>
          <p:cNvSpPr txBox="1"/>
          <p:nvPr>
            <p:ph type="title"/>
          </p:nvPr>
        </p:nvSpPr>
        <p:spPr>
          <a:xfrm>
            <a:off x="457200" y="334667"/>
            <a:ext cx="82296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latin typeface="Outfit ExtraLight"/>
                <a:ea typeface="Outfit ExtraLight"/>
                <a:cs typeface="Outfit ExtraLight"/>
                <a:sym typeface="Outfit ExtraLight"/>
              </a:rPr>
              <a:t>Trusted by leading hospitality brands to drive demand and support conversion</a:t>
            </a:r>
            <a:endParaRPr sz="2600">
              <a:latin typeface="Outfit ExtraLight"/>
              <a:ea typeface="Outfit ExtraLight"/>
              <a:cs typeface="Outfit ExtraLight"/>
              <a:sym typeface="Outfit ExtraLight"/>
            </a:endParaRPr>
          </a:p>
        </p:txBody>
      </p:sp>
      <p:pic>
        <p:nvPicPr>
          <p:cNvPr id="314" name="Google Shape;31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908" y="1583137"/>
            <a:ext cx="1421100" cy="7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1154" y="1443879"/>
            <a:ext cx="1047219" cy="1047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5384" y="2795752"/>
            <a:ext cx="1598760" cy="888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9075" y="4113313"/>
            <a:ext cx="1598766" cy="831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5389" y="4113313"/>
            <a:ext cx="1598750" cy="887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18694" y="1390524"/>
            <a:ext cx="1153925" cy="115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79869" y="2754592"/>
            <a:ext cx="1857177" cy="97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57"/>
          <p:cNvPicPr preferRelativeResize="0"/>
          <p:nvPr/>
        </p:nvPicPr>
        <p:blipFill rotWithShape="1">
          <a:blip r:embed="rId10">
            <a:alphaModFix/>
          </a:blip>
          <a:srcRect b="29129" l="0" r="0" t="12751"/>
          <a:stretch/>
        </p:blipFill>
        <p:spPr>
          <a:xfrm>
            <a:off x="3702743" y="4113313"/>
            <a:ext cx="1785826" cy="6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5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49227" y="2716242"/>
            <a:ext cx="1492858" cy="10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tyS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